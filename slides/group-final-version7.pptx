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40.xml" ContentType="application/vnd.openxmlformats-officedocument.presentationml.tags+xml"/>
  <Override PartName="/ppt/tags/tag6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47"/>
  </p:notesMasterIdLst>
  <p:handoutMasterIdLst>
    <p:handoutMasterId r:id="rId48"/>
  </p:handoutMasterIdLst>
  <p:sldIdLst>
    <p:sldId id="262" r:id="rId3"/>
    <p:sldId id="263" r:id="rId4"/>
    <p:sldId id="284" r:id="rId5"/>
    <p:sldId id="285" r:id="rId6"/>
    <p:sldId id="264" r:id="rId7"/>
    <p:sldId id="265" r:id="rId8"/>
    <p:sldId id="267" r:id="rId9"/>
    <p:sldId id="270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99" r:id="rId26"/>
    <p:sldId id="300" r:id="rId27"/>
    <p:sldId id="301" r:id="rId28"/>
    <p:sldId id="302" r:id="rId29"/>
    <p:sldId id="306" r:id="rId30"/>
    <p:sldId id="303" r:id="rId31"/>
    <p:sldId id="30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66" r:id="rId46"/>
  </p:sldIdLst>
  <p:sldSz cx="12192000" cy="6858000"/>
  <p:notesSz cx="6858000" cy="9144000"/>
  <p:custDataLst>
    <p:tags r:id="rId4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86529" autoAdjust="0"/>
  </p:normalViewPr>
  <p:slideViewPr>
    <p:cSldViewPr snapToGrid="0">
      <p:cViewPr varScale="1">
        <p:scale>
          <a:sx n="102" d="100"/>
          <a:sy n="102" d="100"/>
        </p:scale>
        <p:origin x="108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notesViewPr>
    <p:cSldViewPr snapToGrid="0">
      <p:cViewPr varScale="1">
        <p:scale>
          <a:sx n="67" d="100"/>
          <a:sy n="67" d="100"/>
        </p:scale>
        <p:origin x="2199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629BB-6DED-43E4-9FA7-6E2A4F1B6717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D6C8A-C61F-4116-9D9F-FB9DCA975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01FC7-CB31-469B-8CA1-D3797ED2696A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1CFA2-D7A5-4333-ABA3-06EF3C705F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1CFA2-D7A5-4333-ABA3-06EF3C705F1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“Here, y is the monthly return of Portfolio F, and we focus on Market x1 and RMW x4.</a:t>
            </a:r>
          </a:p>
          <a:p>
            <a:r>
              <a:rPr lang="en-US" altLang="zh-CN"/>
              <a:t>From the summary stats, Portfolio F has a positive mean but a much larger standard deviation, which tells us the returns are quite volatile.”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“We fit two simple linear regressions, one with x1 and one with x4.</a:t>
            </a:r>
          </a:p>
          <a:p>
            <a:r>
              <a:rPr lang="en-US" altLang="zh-CN"/>
              <a:t>The fitted results show a positive slope for x1 and a negative slope for x4, and visually the x1 relationship looks much stronger.”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“Next, we test whether the slopes are significantly different from zero.</a:t>
            </a:r>
          </a:p>
          <a:p>
            <a:r>
              <a:rPr lang="en-US" altLang="zh-CN"/>
              <a:t>Both slopes are highly significant, with very large t-values, so both factors have statistically meaningful effects.”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“In terms of direction, Market x1 has a strong positive effect, while RMW x4 has a significant negative effect.</a:t>
            </a:r>
          </a:p>
          <a:p>
            <a:r>
              <a:rPr lang="en-US" altLang="zh-CN"/>
              <a:t>Since the t-value for x1 is much larger, x1 clearly has the stronger impact.”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“To choose the better model, we compare correlation and R-squared.</a:t>
            </a:r>
          </a:p>
          <a:p>
            <a:r>
              <a:rPr lang="en-US" altLang="zh-CN"/>
              <a:t>Model 1 has a correlation around 0.74 and explains about 55% of the variation, which is much higher than Model 2, so we select Market x1.”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Using this model, the predicted return at x</a:t>
            </a:r>
            <a:r>
              <a:rPr lang="en-US" altLang="en-US"/>
              <a:t>₁</a:t>
            </a:r>
            <a:r>
              <a:rPr lang="en-US" altLang="zh-CN"/>
              <a:t> = 1 is 1.96,</a:t>
            </a:r>
          </a:p>
          <a:p>
            <a:r>
              <a:rPr lang="en-US" altLang="zh-CN"/>
              <a:t>In conclusion</a:t>
            </a:r>
            <a:r>
              <a:rPr lang="zh-CN" altLang="en-US"/>
              <a:t>，</a:t>
            </a:r>
            <a:r>
              <a:rPr lang="en-US" altLang="zh-CN"/>
              <a:t>both x1 and x4 are statistically significant predictors of Portfolio.F, with opposite directions.</a:t>
            </a:r>
          </a:p>
          <a:p>
            <a:r>
              <a:rPr lang="en-US" altLang="zh-CN"/>
              <a:t>However, Market x1 provides stronger explanatory power (R2 = 0.5485 vs 0.1111), so</a:t>
            </a:r>
          </a:p>
          <a:p>
            <a:r>
              <a:rPr lang="en-US" altLang="zh-CN"/>
              <a:t>Model 1 is preferred.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1" y="0"/>
            <a:ext cx="12214994" cy="6858002"/>
            <a:chOff x="1" y="0"/>
            <a:chExt cx="12214994" cy="6858002"/>
          </a:xfrm>
        </p:grpSpPr>
        <p:sp>
          <p:nvSpPr>
            <p:cNvPr id="39" name="任意多边形: 形状 38"/>
            <p:cNvSpPr/>
            <p:nvPr/>
          </p:nvSpPr>
          <p:spPr>
            <a:xfrm rot="10800000">
              <a:off x="6793301" y="1"/>
              <a:ext cx="2522886" cy="1466883"/>
            </a:xfrm>
            <a:custGeom>
              <a:avLst/>
              <a:gdLst>
                <a:gd name="connsiteX0" fmla="*/ -717 w 2522886"/>
                <a:gd name="connsiteY0" fmla="*/ 1466315 h 1466883"/>
                <a:gd name="connsiteX1" fmla="*/ 593548 w 2522886"/>
                <a:gd name="connsiteY1" fmla="*/ 894 h 1466883"/>
                <a:gd name="connsiteX2" fmla="*/ 1178573 w 2522886"/>
                <a:gd name="connsiteY2" fmla="*/ 945868 h 1466883"/>
                <a:gd name="connsiteX3" fmla="*/ 2142694 w 2522886"/>
                <a:gd name="connsiteY3" fmla="*/ 423136 h 1466883"/>
                <a:gd name="connsiteX4" fmla="*/ 2522170 w 2522886"/>
                <a:gd name="connsiteY4" fmla="*/ 1466315 h 146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2886" h="1466883">
                  <a:moveTo>
                    <a:pt x="-717" y="1466315"/>
                  </a:moveTo>
                  <a:cubicBezTo>
                    <a:pt x="-717" y="1466315"/>
                    <a:pt x="129871" y="44328"/>
                    <a:pt x="593548" y="894"/>
                  </a:cubicBezTo>
                  <a:cubicBezTo>
                    <a:pt x="1057225" y="-42540"/>
                    <a:pt x="815480" y="895386"/>
                    <a:pt x="1178573" y="945868"/>
                  </a:cubicBezTo>
                  <a:cubicBezTo>
                    <a:pt x="1541666" y="996351"/>
                    <a:pt x="1780553" y="253115"/>
                    <a:pt x="2142694" y="423136"/>
                  </a:cubicBezTo>
                  <a:cubicBezTo>
                    <a:pt x="2504835" y="593158"/>
                    <a:pt x="2522170" y="1466315"/>
                    <a:pt x="2522170" y="1466315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081287" y="3425289"/>
              <a:ext cx="7133708" cy="3432713"/>
              <a:chOff x="4814887" y="2809971"/>
              <a:chExt cx="2573472" cy="1238345"/>
            </a:xfrm>
          </p:grpSpPr>
          <p:sp>
            <p:nvSpPr>
              <p:cNvPr id="31" name="任意多边形: 形状 30"/>
              <p:cNvSpPr/>
              <p:nvPr/>
            </p:nvSpPr>
            <p:spPr>
              <a:xfrm>
                <a:off x="4823182" y="2809971"/>
                <a:ext cx="2565177" cy="1238345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4814887" y="3078384"/>
                <a:ext cx="2565177" cy="969835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1" name="任意多边形: 形状 20"/>
            <p:cNvSpPr/>
            <p:nvPr/>
          </p:nvSpPr>
          <p:spPr>
            <a:xfrm>
              <a:off x="1" y="190"/>
              <a:ext cx="2161002" cy="1411922"/>
            </a:xfrm>
            <a:custGeom>
              <a:avLst/>
              <a:gdLst>
                <a:gd name="connsiteX0" fmla="*/ 1268371 w 1517309"/>
                <a:gd name="connsiteY0" fmla="*/ 206732 h 991356"/>
                <a:gd name="connsiteX1" fmla="*/ 1316567 w 1517309"/>
                <a:gd name="connsiteY1" fmla="*/ -532 h 991356"/>
                <a:gd name="connsiteX2" fmla="*/ -73 w 1517309"/>
                <a:gd name="connsiteY2" fmla="*/ -532 h 991356"/>
                <a:gd name="connsiteX3" fmla="*/ -73 w 1517309"/>
                <a:gd name="connsiteY3" fmla="*/ 724321 h 991356"/>
                <a:gd name="connsiteX4" fmla="*/ 1268371 w 1517309"/>
                <a:gd name="connsiteY4" fmla="*/ 206732 h 99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7309" h="991356">
                  <a:moveTo>
                    <a:pt x="1268371" y="206732"/>
                  </a:moveTo>
                  <a:cubicBezTo>
                    <a:pt x="1184646" y="147581"/>
                    <a:pt x="1067584" y="114911"/>
                    <a:pt x="1316567" y="-532"/>
                  </a:cubicBezTo>
                  <a:lnTo>
                    <a:pt x="-73" y="-532"/>
                  </a:lnTo>
                  <a:lnTo>
                    <a:pt x="-73" y="724321"/>
                  </a:lnTo>
                  <a:cubicBezTo>
                    <a:pt x="466461" y="1315442"/>
                    <a:pt x="2143338" y="825095"/>
                    <a:pt x="1268371" y="206732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0039547" y="0"/>
              <a:ext cx="2152454" cy="3011248"/>
              <a:chOff x="1059441" y="0"/>
              <a:chExt cx="1083969" cy="1516455"/>
            </a:xfrm>
          </p:grpSpPr>
          <p:sp>
            <p:nvSpPr>
              <p:cNvPr id="23" name="任意多边形: 形状 22"/>
              <p:cNvSpPr/>
              <p:nvPr/>
            </p:nvSpPr>
            <p:spPr>
              <a:xfrm>
                <a:off x="1601395" y="0"/>
                <a:ext cx="542015" cy="1108305"/>
              </a:xfrm>
              <a:custGeom>
                <a:avLst/>
                <a:gdLst>
                  <a:gd name="connsiteX0" fmla="*/ 334487 w 542015"/>
                  <a:gd name="connsiteY0" fmla="*/ 1058076 h 1108305"/>
                  <a:gd name="connsiteX1" fmla="*/ 541942 w 542015"/>
                  <a:gd name="connsiteY1" fmla="*/ 991401 h 1108305"/>
                  <a:gd name="connsiteX2" fmla="*/ 541942 w 542015"/>
                  <a:gd name="connsiteY2" fmla="*/ -532 h 1108305"/>
                  <a:gd name="connsiteX3" fmla="*/ 463741 w 542015"/>
                  <a:gd name="connsiteY3" fmla="*/ -532 h 1108305"/>
                  <a:gd name="connsiteX4" fmla="*/ 334487 w 542015"/>
                  <a:gd name="connsiteY4" fmla="*/ 1058076 h 110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2015" h="1108305">
                    <a:moveTo>
                      <a:pt x="334487" y="1058076"/>
                    </a:moveTo>
                    <a:cubicBezTo>
                      <a:pt x="400705" y="1027587"/>
                      <a:pt x="470361" y="1005204"/>
                      <a:pt x="541942" y="991401"/>
                    </a:cubicBezTo>
                    <a:lnTo>
                      <a:pt x="541942" y="-532"/>
                    </a:lnTo>
                    <a:lnTo>
                      <a:pt x="463741" y="-532"/>
                    </a:lnTo>
                    <a:cubicBezTo>
                      <a:pt x="21591" y="466003"/>
                      <a:pt x="-250253" y="1322777"/>
                      <a:pt x="334487" y="1058076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059441" y="648461"/>
                <a:ext cx="1083969" cy="867994"/>
              </a:xfrm>
              <a:custGeom>
                <a:avLst/>
                <a:gdLst>
                  <a:gd name="connsiteX0" fmla="*/ 669083 w 1083969"/>
                  <a:gd name="connsiteY0" fmla="*/ 828524 h 867994"/>
                  <a:gd name="connsiteX1" fmla="*/ 1083896 w 1083969"/>
                  <a:gd name="connsiteY1" fmla="*/ 776231 h 867994"/>
                  <a:gd name="connsiteX2" fmla="*/ 1083896 w 1083969"/>
                  <a:gd name="connsiteY2" fmla="*/ -532 h 867994"/>
                  <a:gd name="connsiteX3" fmla="*/ 927496 w 1083969"/>
                  <a:gd name="connsiteY3" fmla="*/ -532 h 867994"/>
                  <a:gd name="connsiteX4" fmla="*/ 669083 w 1083969"/>
                  <a:gd name="connsiteY4" fmla="*/ 828524 h 86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3969" h="867994">
                    <a:moveTo>
                      <a:pt x="669083" y="828524"/>
                    </a:moveTo>
                    <a:cubicBezTo>
                      <a:pt x="806376" y="804035"/>
                      <a:pt x="944822" y="786576"/>
                      <a:pt x="1083896" y="776231"/>
                    </a:cubicBezTo>
                    <a:lnTo>
                      <a:pt x="1083896" y="-532"/>
                    </a:lnTo>
                    <a:lnTo>
                      <a:pt x="927496" y="-532"/>
                    </a:lnTo>
                    <a:cubicBezTo>
                      <a:pt x="43195" y="364847"/>
                      <a:pt x="-500397" y="1035883"/>
                      <a:pt x="669083" y="828524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9275847" y="2420102"/>
              <a:ext cx="1039464" cy="1014568"/>
              <a:chOff x="6503479" y="2817685"/>
              <a:chExt cx="282320" cy="275558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4" name="任意多边形: 形状 13"/>
            <p:cNvSpPr/>
            <p:nvPr/>
          </p:nvSpPr>
          <p:spPr>
            <a:xfrm rot="18900000">
              <a:off x="7676232" y="4652058"/>
              <a:ext cx="395938" cy="395930"/>
            </a:xfrm>
            <a:custGeom>
              <a:avLst/>
              <a:gdLst>
                <a:gd name="connsiteX0" fmla="*/ 209 w 107537"/>
                <a:gd name="connsiteY0" fmla="*/ -602 h 107537"/>
                <a:gd name="connsiteX1" fmla="*/ 107747 w 107537"/>
                <a:gd name="connsiteY1" fmla="*/ -602 h 107537"/>
                <a:gd name="connsiteX2" fmla="*/ 107747 w 107537"/>
                <a:gd name="connsiteY2" fmla="*/ 106935 h 107537"/>
                <a:gd name="connsiteX3" fmla="*/ 209 w 107537"/>
                <a:gd name="connsiteY3" fmla="*/ 106935 h 107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37" h="107537">
                  <a:moveTo>
                    <a:pt x="209" y="-602"/>
                  </a:moveTo>
                  <a:lnTo>
                    <a:pt x="107747" y="-602"/>
                  </a:lnTo>
                  <a:lnTo>
                    <a:pt x="107747" y="106935"/>
                  </a:lnTo>
                  <a:lnTo>
                    <a:pt x="209" y="106935"/>
                  </a:lnTo>
                  <a:close/>
                </a:path>
              </a:pathLst>
            </a:custGeom>
            <a:noFill/>
            <a:ln w="28575" cap="sq">
              <a:solidFill>
                <a:schemeClr val="accent1">
                  <a:lumMod val="50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679273" y="5680695"/>
              <a:ext cx="560064" cy="560064"/>
              <a:chOff x="5405437" y="3902487"/>
              <a:chExt cx="152114" cy="152114"/>
            </a:xfrm>
          </p:grpSpPr>
          <p:sp>
            <p:nvSpPr>
              <p:cNvPr id="15" name="任意多边形: 形状 14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560176" y="1055015"/>
              <a:ext cx="679159" cy="665717"/>
              <a:chOff x="5924263" y="3262026"/>
              <a:chExt cx="341757" cy="334994"/>
            </a:xfrm>
          </p:grpSpPr>
          <p:sp>
            <p:nvSpPr>
              <p:cNvPr id="43" name="任意多边形: 形状 42"/>
              <p:cNvSpPr/>
              <p:nvPr/>
            </p:nvSpPr>
            <p:spPr>
              <a:xfrm>
                <a:off x="5924263" y="3262026"/>
                <a:ext cx="341756" cy="334994"/>
              </a:xfrm>
              <a:custGeom>
                <a:avLst/>
                <a:gdLst>
                  <a:gd name="connsiteX0" fmla="*/ 341757 w 341756"/>
                  <a:gd name="connsiteY0" fmla="*/ 120301 h 334994"/>
                  <a:gd name="connsiteX1" fmla="*/ 0 w 341756"/>
                  <a:gd name="connsiteY1" fmla="*/ 0 h 334994"/>
                  <a:gd name="connsiteX2" fmla="*/ 114395 w 341756"/>
                  <a:gd name="connsiteY2" fmla="*/ 334994 h 334994"/>
                  <a:gd name="connsiteX3" fmla="*/ 341757 w 341756"/>
                  <a:gd name="connsiteY3" fmla="*/ 120301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756" h="334994">
                    <a:moveTo>
                      <a:pt x="341757" y="120301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341757" y="120301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5924263" y="3262026"/>
                <a:ext cx="220884" cy="334994"/>
              </a:xfrm>
              <a:custGeom>
                <a:avLst/>
                <a:gdLst>
                  <a:gd name="connsiteX0" fmla="*/ 220885 w 220884"/>
                  <a:gd name="connsiteY0" fmla="*/ 174308 h 334994"/>
                  <a:gd name="connsiteX1" fmla="*/ 0 w 220884"/>
                  <a:gd name="connsiteY1" fmla="*/ 0 h 334994"/>
                  <a:gd name="connsiteX2" fmla="*/ 114395 w 220884"/>
                  <a:gd name="connsiteY2" fmla="*/ 334994 h 334994"/>
                  <a:gd name="connsiteX3" fmla="*/ 220885 w 220884"/>
                  <a:gd name="connsiteY3" fmla="*/ 174308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884" h="334994">
                    <a:moveTo>
                      <a:pt x="220885" y="174308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220885" y="174308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6145148" y="3382327"/>
                <a:ext cx="120872" cy="54006"/>
              </a:xfrm>
              <a:custGeom>
                <a:avLst/>
                <a:gdLst>
                  <a:gd name="connsiteX0" fmla="*/ 120872 w 120872"/>
                  <a:gd name="connsiteY0" fmla="*/ 0 h 54006"/>
                  <a:gd name="connsiteX1" fmla="*/ 0 w 120872"/>
                  <a:gd name="connsiteY1" fmla="*/ 54007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872" h="54006">
                    <a:moveTo>
                      <a:pt x="120872" y="0"/>
                    </a:moveTo>
                    <a:lnTo>
                      <a:pt x="0" y="54007"/>
                    </a:lnTo>
                  </a:path>
                </a:pathLst>
              </a:custGeom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9337" y="1130300"/>
            <a:ext cx="6489540" cy="2579605"/>
          </a:xfrm>
        </p:spPr>
        <p:txBody>
          <a:bodyPr wrap="square"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9337" y="3780057"/>
            <a:ext cx="6489540" cy="872982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239337" y="4954751"/>
            <a:ext cx="5877156" cy="358361"/>
          </a:xfrm>
        </p:spPr>
        <p:txBody>
          <a:bodyPr wrap="square"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1239337" y="5313112"/>
            <a:ext cx="5877156" cy="358361"/>
          </a:xfrm>
        </p:spPr>
        <p:txBody>
          <a:bodyPr wrap="square"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60400" y="1130300"/>
            <a:ext cx="10858500" cy="5003800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>
              <a:buFont typeface="+mj-lt"/>
              <a:buAutoNum type="arabicPeriod"/>
              <a:defRPr/>
            </a:lvl4pPr>
            <a:lvl5pPr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-579780" y="-480519"/>
            <a:ext cx="12771780" cy="7338519"/>
            <a:chOff x="-579780" y="-480519"/>
            <a:chExt cx="12771780" cy="7338519"/>
          </a:xfrm>
        </p:grpSpPr>
        <p:sp>
          <p:nvSpPr>
            <p:cNvPr id="9" name="任意多边形: 形状 8"/>
            <p:cNvSpPr/>
            <p:nvPr/>
          </p:nvSpPr>
          <p:spPr>
            <a:xfrm rot="9336368" flipH="1">
              <a:off x="-579780" y="-480519"/>
              <a:ext cx="3659369" cy="1933001"/>
            </a:xfrm>
            <a:custGeom>
              <a:avLst/>
              <a:gdLst>
                <a:gd name="connsiteX0" fmla="*/ 1437418 w 6018766"/>
                <a:gd name="connsiteY0" fmla="*/ 3179313 h 3179313"/>
                <a:gd name="connsiteX1" fmla="*/ 6018766 w 6018766"/>
                <a:gd name="connsiteY1" fmla="*/ 1101712 h 3179313"/>
                <a:gd name="connsiteX2" fmla="*/ 5931610 w 6018766"/>
                <a:gd name="connsiteY2" fmla="*/ 1049867 h 3179313"/>
                <a:gd name="connsiteX3" fmla="*/ 5698625 w 6018766"/>
                <a:gd name="connsiteY3" fmla="*/ 959854 h 3179313"/>
                <a:gd name="connsiteX4" fmla="*/ 2185593 w 6018766"/>
                <a:gd name="connsiteY4" fmla="*/ 2144043 h 3179313"/>
                <a:gd name="connsiteX5" fmla="*/ 53899 w 6018766"/>
                <a:gd name="connsiteY5" fmla="*/ 3313 h 3179313"/>
                <a:gd name="connsiteX6" fmla="*/ 0 w 6018766"/>
                <a:gd name="connsiteY6" fmla="*/ 9641 h 317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18766" h="3179313">
                  <a:moveTo>
                    <a:pt x="1437418" y="3179313"/>
                  </a:moveTo>
                  <a:lnTo>
                    <a:pt x="6018766" y="1101712"/>
                  </a:lnTo>
                  <a:lnTo>
                    <a:pt x="5931610" y="1049867"/>
                  </a:lnTo>
                  <a:cubicBezTo>
                    <a:pt x="5858662" y="1014222"/>
                    <a:pt x="5781097" y="983927"/>
                    <a:pt x="5698625" y="959854"/>
                  </a:cubicBezTo>
                  <a:cubicBezTo>
                    <a:pt x="4379068" y="574691"/>
                    <a:pt x="3508620" y="2258407"/>
                    <a:pt x="2185593" y="2144043"/>
                  </a:cubicBezTo>
                  <a:cubicBezTo>
                    <a:pt x="862568" y="2029682"/>
                    <a:pt x="1743430" y="-95081"/>
                    <a:pt x="53899" y="3313"/>
                  </a:cubicBezTo>
                  <a:lnTo>
                    <a:pt x="0" y="9641"/>
                  </a:ln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7750629" y="4713918"/>
              <a:ext cx="4441371" cy="2144082"/>
              <a:chOff x="5081287" y="3425287"/>
              <a:chExt cx="7110714" cy="3432713"/>
            </a:xfrm>
          </p:grpSpPr>
          <p:sp>
            <p:nvSpPr>
              <p:cNvPr id="10" name="任意多边形: 形状 9"/>
              <p:cNvSpPr/>
              <p:nvPr/>
            </p:nvSpPr>
            <p:spPr>
              <a:xfrm>
                <a:off x="5081287" y="3425287"/>
                <a:ext cx="7110714" cy="3432713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5081287" y="4169335"/>
                <a:ext cx="7110714" cy="2688399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9776707" y="5103156"/>
              <a:ext cx="1039464" cy="1014568"/>
              <a:chOff x="6503479" y="2817685"/>
              <a:chExt cx="282320" cy="275558"/>
            </a:xfrm>
          </p:grpSpPr>
          <p:sp>
            <p:nvSpPr>
              <p:cNvPr id="14" name="任意多边形: 形状 13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79273" y="5680695"/>
              <a:ext cx="560064" cy="560064"/>
              <a:chOff x="5405437" y="3902487"/>
              <a:chExt cx="152114" cy="152114"/>
            </a:xfrm>
          </p:grpSpPr>
          <p:sp>
            <p:nvSpPr>
              <p:cNvPr id="19" name="任意多边形: 形状 18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560178" y="335083"/>
              <a:ext cx="679159" cy="665717"/>
              <a:chOff x="5924263" y="3262026"/>
              <a:chExt cx="341757" cy="334994"/>
            </a:xfrm>
          </p:grpSpPr>
          <p:sp>
            <p:nvSpPr>
              <p:cNvPr id="22" name="任意多边形: 形状 21"/>
              <p:cNvSpPr/>
              <p:nvPr/>
            </p:nvSpPr>
            <p:spPr>
              <a:xfrm>
                <a:off x="5924263" y="3262026"/>
                <a:ext cx="341756" cy="334994"/>
              </a:xfrm>
              <a:custGeom>
                <a:avLst/>
                <a:gdLst>
                  <a:gd name="connsiteX0" fmla="*/ 341757 w 341756"/>
                  <a:gd name="connsiteY0" fmla="*/ 120301 h 334994"/>
                  <a:gd name="connsiteX1" fmla="*/ 0 w 341756"/>
                  <a:gd name="connsiteY1" fmla="*/ 0 h 334994"/>
                  <a:gd name="connsiteX2" fmla="*/ 114395 w 341756"/>
                  <a:gd name="connsiteY2" fmla="*/ 334994 h 334994"/>
                  <a:gd name="connsiteX3" fmla="*/ 341757 w 341756"/>
                  <a:gd name="connsiteY3" fmla="*/ 120301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756" h="334994">
                    <a:moveTo>
                      <a:pt x="341757" y="120301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341757" y="120301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924263" y="3262026"/>
                <a:ext cx="220884" cy="334994"/>
              </a:xfrm>
              <a:custGeom>
                <a:avLst/>
                <a:gdLst>
                  <a:gd name="connsiteX0" fmla="*/ 220885 w 220884"/>
                  <a:gd name="connsiteY0" fmla="*/ 174308 h 334994"/>
                  <a:gd name="connsiteX1" fmla="*/ 0 w 220884"/>
                  <a:gd name="connsiteY1" fmla="*/ 0 h 334994"/>
                  <a:gd name="connsiteX2" fmla="*/ 114395 w 220884"/>
                  <a:gd name="connsiteY2" fmla="*/ 334994 h 334994"/>
                  <a:gd name="connsiteX3" fmla="*/ 220885 w 220884"/>
                  <a:gd name="connsiteY3" fmla="*/ 174308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884" h="334994">
                    <a:moveTo>
                      <a:pt x="220885" y="174308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220885" y="174308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6145148" y="3382327"/>
                <a:ext cx="120872" cy="54006"/>
              </a:xfrm>
              <a:custGeom>
                <a:avLst/>
                <a:gdLst>
                  <a:gd name="connsiteX0" fmla="*/ 120872 w 120872"/>
                  <a:gd name="connsiteY0" fmla="*/ 0 h 54006"/>
                  <a:gd name="connsiteX1" fmla="*/ 0 w 120872"/>
                  <a:gd name="connsiteY1" fmla="*/ 54007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872" h="54006">
                    <a:moveTo>
                      <a:pt x="120872" y="0"/>
                    </a:moveTo>
                    <a:lnTo>
                      <a:pt x="0" y="54007"/>
                    </a:lnTo>
                  </a:path>
                </a:pathLst>
              </a:custGeom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0" y="0"/>
            <a:ext cx="13148230" cy="7649510"/>
            <a:chOff x="0" y="0"/>
            <a:chExt cx="13148230" cy="7649510"/>
          </a:xfrm>
        </p:grpSpPr>
        <p:grpSp>
          <p:nvGrpSpPr>
            <p:cNvPr id="32" name="组合 31"/>
            <p:cNvGrpSpPr/>
            <p:nvPr/>
          </p:nvGrpSpPr>
          <p:grpSpPr>
            <a:xfrm flipH="1">
              <a:off x="0" y="0"/>
              <a:ext cx="2161002" cy="1720542"/>
              <a:chOff x="10030998" y="190"/>
              <a:chExt cx="2161002" cy="1720542"/>
            </a:xfrm>
          </p:grpSpPr>
          <p:sp>
            <p:nvSpPr>
              <p:cNvPr id="10" name="任意多边形: 形状 9"/>
              <p:cNvSpPr/>
              <p:nvPr/>
            </p:nvSpPr>
            <p:spPr>
              <a:xfrm flipH="1">
                <a:off x="10030998" y="190"/>
                <a:ext cx="2161002" cy="1411922"/>
              </a:xfrm>
              <a:custGeom>
                <a:avLst/>
                <a:gdLst>
                  <a:gd name="connsiteX0" fmla="*/ 1268371 w 1517309"/>
                  <a:gd name="connsiteY0" fmla="*/ 206732 h 991356"/>
                  <a:gd name="connsiteX1" fmla="*/ 1316567 w 1517309"/>
                  <a:gd name="connsiteY1" fmla="*/ -532 h 991356"/>
                  <a:gd name="connsiteX2" fmla="*/ -73 w 1517309"/>
                  <a:gd name="connsiteY2" fmla="*/ -532 h 991356"/>
                  <a:gd name="connsiteX3" fmla="*/ -73 w 1517309"/>
                  <a:gd name="connsiteY3" fmla="*/ 724321 h 991356"/>
                  <a:gd name="connsiteX4" fmla="*/ 1268371 w 1517309"/>
                  <a:gd name="connsiteY4" fmla="*/ 206732 h 991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7309" h="991356">
                    <a:moveTo>
                      <a:pt x="1268371" y="206732"/>
                    </a:moveTo>
                    <a:cubicBezTo>
                      <a:pt x="1184646" y="147581"/>
                      <a:pt x="1067584" y="114911"/>
                      <a:pt x="1316567" y="-532"/>
                    </a:cubicBezTo>
                    <a:lnTo>
                      <a:pt x="-73" y="-532"/>
                    </a:lnTo>
                    <a:lnTo>
                      <a:pt x="-73" y="724321"/>
                    </a:lnTo>
                    <a:cubicBezTo>
                      <a:pt x="466461" y="1315442"/>
                      <a:pt x="2143338" y="825095"/>
                      <a:pt x="1268371" y="206732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 flipH="1">
                <a:off x="10952666" y="1055015"/>
                <a:ext cx="679159" cy="665717"/>
                <a:chOff x="5924263" y="3262026"/>
                <a:chExt cx="341757" cy="334994"/>
              </a:xfrm>
            </p:grpSpPr>
            <p:sp>
              <p:nvSpPr>
                <p:cNvPr id="17" name="任意多边形: 形状 16"/>
                <p:cNvSpPr/>
                <p:nvPr/>
              </p:nvSpPr>
              <p:spPr>
                <a:xfrm>
                  <a:off x="5924263" y="3262026"/>
                  <a:ext cx="341756" cy="334994"/>
                </a:xfrm>
                <a:custGeom>
                  <a:avLst/>
                  <a:gdLst>
                    <a:gd name="connsiteX0" fmla="*/ 341757 w 341756"/>
                    <a:gd name="connsiteY0" fmla="*/ 120301 h 334994"/>
                    <a:gd name="connsiteX1" fmla="*/ 0 w 341756"/>
                    <a:gd name="connsiteY1" fmla="*/ 0 h 334994"/>
                    <a:gd name="connsiteX2" fmla="*/ 114395 w 341756"/>
                    <a:gd name="connsiteY2" fmla="*/ 334994 h 334994"/>
                    <a:gd name="connsiteX3" fmla="*/ 341757 w 341756"/>
                    <a:gd name="connsiteY3" fmla="*/ 120301 h 334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1756" h="334994">
                      <a:moveTo>
                        <a:pt x="341757" y="120301"/>
                      </a:moveTo>
                      <a:lnTo>
                        <a:pt x="0" y="0"/>
                      </a:lnTo>
                      <a:lnTo>
                        <a:pt x="114395" y="334994"/>
                      </a:lnTo>
                      <a:lnTo>
                        <a:pt x="341757" y="120301"/>
                      </a:lnTo>
                      <a:close/>
                    </a:path>
                  </a:pathLst>
                </a:custGeom>
                <a:noFill/>
                <a:ln w="28575" cap="sq">
                  <a:solidFill>
                    <a:schemeClr val="accent1">
                      <a:lumMod val="50000"/>
                    </a:schemeClr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任意多边形: 形状 17"/>
                <p:cNvSpPr/>
                <p:nvPr/>
              </p:nvSpPr>
              <p:spPr>
                <a:xfrm>
                  <a:off x="5924263" y="3262026"/>
                  <a:ext cx="220884" cy="334994"/>
                </a:xfrm>
                <a:custGeom>
                  <a:avLst/>
                  <a:gdLst>
                    <a:gd name="connsiteX0" fmla="*/ 220885 w 220884"/>
                    <a:gd name="connsiteY0" fmla="*/ 174308 h 334994"/>
                    <a:gd name="connsiteX1" fmla="*/ 0 w 220884"/>
                    <a:gd name="connsiteY1" fmla="*/ 0 h 334994"/>
                    <a:gd name="connsiteX2" fmla="*/ 114395 w 220884"/>
                    <a:gd name="connsiteY2" fmla="*/ 334994 h 334994"/>
                    <a:gd name="connsiteX3" fmla="*/ 220885 w 220884"/>
                    <a:gd name="connsiteY3" fmla="*/ 174308 h 334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0884" h="334994">
                      <a:moveTo>
                        <a:pt x="220885" y="174308"/>
                      </a:moveTo>
                      <a:lnTo>
                        <a:pt x="0" y="0"/>
                      </a:lnTo>
                      <a:lnTo>
                        <a:pt x="114395" y="334994"/>
                      </a:lnTo>
                      <a:lnTo>
                        <a:pt x="220885" y="174308"/>
                      </a:lnTo>
                      <a:close/>
                    </a:path>
                  </a:pathLst>
                </a:custGeom>
                <a:noFill/>
                <a:ln w="28575" cap="sq">
                  <a:solidFill>
                    <a:schemeClr val="accent1">
                      <a:lumMod val="50000"/>
                    </a:schemeClr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>
                <a:xfrm>
                  <a:off x="6145148" y="3382327"/>
                  <a:ext cx="120872" cy="54006"/>
                </a:xfrm>
                <a:custGeom>
                  <a:avLst/>
                  <a:gdLst>
                    <a:gd name="connsiteX0" fmla="*/ 120872 w 120872"/>
                    <a:gd name="connsiteY0" fmla="*/ 0 h 54006"/>
                    <a:gd name="connsiteX1" fmla="*/ 0 w 120872"/>
                    <a:gd name="connsiteY1" fmla="*/ 54007 h 54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" h="54006">
                      <a:moveTo>
                        <a:pt x="120872" y="0"/>
                      </a:moveTo>
                      <a:lnTo>
                        <a:pt x="0" y="54007"/>
                      </a:lnTo>
                    </a:path>
                  </a:pathLst>
                </a:custGeom>
                <a:ln w="28575" cap="sq">
                  <a:solidFill>
                    <a:schemeClr val="accent1">
                      <a:lumMod val="50000"/>
                    </a:schemeClr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1" name="任意多边形: 形状 30"/>
            <p:cNvSpPr/>
            <p:nvPr/>
          </p:nvSpPr>
          <p:spPr>
            <a:xfrm rot="20137285" flipH="1">
              <a:off x="6879157" y="4326453"/>
              <a:ext cx="6269073" cy="3323057"/>
            </a:xfrm>
            <a:custGeom>
              <a:avLst/>
              <a:gdLst>
                <a:gd name="connsiteX0" fmla="*/ 0 w 6269073"/>
                <a:gd name="connsiteY0" fmla="*/ 21976 h 3323057"/>
                <a:gd name="connsiteX1" fmla="*/ 1495949 w 6269073"/>
                <a:gd name="connsiteY1" fmla="*/ 3323056 h 3323057"/>
                <a:gd name="connsiteX2" fmla="*/ 1575864 w 6269073"/>
                <a:gd name="connsiteY2" fmla="*/ 3323057 h 3323057"/>
                <a:gd name="connsiteX3" fmla="*/ 6269073 w 6269073"/>
                <a:gd name="connsiteY3" fmla="*/ 1196237 h 3323057"/>
                <a:gd name="connsiteX4" fmla="*/ 6239877 w 6269073"/>
                <a:gd name="connsiteY4" fmla="*/ 1171982 h 3323057"/>
                <a:gd name="connsiteX5" fmla="*/ 5801606 w 6269073"/>
                <a:gd name="connsiteY5" fmla="*/ 959854 h 3323057"/>
                <a:gd name="connsiteX6" fmla="*/ 2288574 w 6269073"/>
                <a:gd name="connsiteY6" fmla="*/ 2144043 h 3323057"/>
                <a:gd name="connsiteX7" fmla="*/ 156880 w 6269073"/>
                <a:gd name="connsiteY7" fmla="*/ 3313 h 3323057"/>
                <a:gd name="connsiteX8" fmla="*/ 2019 w 6269073"/>
                <a:gd name="connsiteY8" fmla="*/ 21494 h 332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69073" h="3323057">
                  <a:moveTo>
                    <a:pt x="0" y="21976"/>
                  </a:moveTo>
                  <a:lnTo>
                    <a:pt x="1495949" y="3323056"/>
                  </a:lnTo>
                  <a:lnTo>
                    <a:pt x="1575864" y="3323057"/>
                  </a:lnTo>
                  <a:lnTo>
                    <a:pt x="6269073" y="1196237"/>
                  </a:lnTo>
                  <a:lnTo>
                    <a:pt x="6239877" y="1171982"/>
                  </a:lnTo>
                  <a:cubicBezTo>
                    <a:pt x="6111864" y="1081034"/>
                    <a:pt x="5966550" y="1008000"/>
                    <a:pt x="5801606" y="959854"/>
                  </a:cubicBezTo>
                  <a:cubicBezTo>
                    <a:pt x="4482049" y="574691"/>
                    <a:pt x="3611601" y="2258407"/>
                    <a:pt x="2288574" y="2144043"/>
                  </a:cubicBezTo>
                  <a:cubicBezTo>
                    <a:pt x="965549" y="2029682"/>
                    <a:pt x="1846411" y="-95081"/>
                    <a:pt x="156880" y="3313"/>
                  </a:cubicBezTo>
                  <a:cubicBezTo>
                    <a:pt x="104082" y="6388"/>
                    <a:pt x="52470" y="12513"/>
                    <a:pt x="2019" y="21494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 flipH="1">
              <a:off x="0" y="3915142"/>
              <a:ext cx="6096000" cy="2942858"/>
              <a:chOff x="4814887" y="2809970"/>
              <a:chExt cx="2565177" cy="1238345"/>
            </a:xfrm>
          </p:grpSpPr>
          <p:sp>
            <p:nvSpPr>
              <p:cNvPr id="27" name="任意多边形: 形状 26"/>
              <p:cNvSpPr/>
              <p:nvPr/>
            </p:nvSpPr>
            <p:spPr>
              <a:xfrm>
                <a:off x="4814887" y="2809970"/>
                <a:ext cx="2565177" cy="1238345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zh-CN" altLang="en-US"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4814887" y="3078384"/>
                <a:ext cx="2565177" cy="969835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0077327" y="5386571"/>
              <a:ext cx="1039464" cy="1014568"/>
              <a:chOff x="6503479" y="2817685"/>
              <a:chExt cx="282320" cy="275558"/>
            </a:xfrm>
          </p:grpSpPr>
          <p:sp>
            <p:nvSpPr>
              <p:cNvPr id="22" name="任意多边形: 形状 21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 flipH="1">
              <a:off x="11071761" y="774793"/>
              <a:ext cx="560064" cy="560064"/>
              <a:chOff x="5405437" y="3902487"/>
              <a:chExt cx="152114" cy="152114"/>
            </a:xfrm>
          </p:grpSpPr>
          <p:sp>
            <p:nvSpPr>
              <p:cNvPr id="20" name="任意多边形: 形状 19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3056" y="1577033"/>
            <a:ext cx="8955789" cy="2075349"/>
          </a:xfrm>
        </p:spPr>
        <p:txBody>
          <a:bodyPr wrap="square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673056" y="3862500"/>
            <a:ext cx="8955789" cy="1077212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1" y="0"/>
            <a:ext cx="12214994" cy="6858002"/>
            <a:chOff x="1" y="0"/>
            <a:chExt cx="12214994" cy="6858002"/>
          </a:xfrm>
        </p:grpSpPr>
        <p:sp>
          <p:nvSpPr>
            <p:cNvPr id="28" name="任意多边形: 形状 27"/>
            <p:cNvSpPr/>
            <p:nvPr/>
          </p:nvSpPr>
          <p:spPr>
            <a:xfrm rot="10800000">
              <a:off x="6793301" y="1"/>
              <a:ext cx="2522886" cy="1466883"/>
            </a:xfrm>
            <a:custGeom>
              <a:avLst/>
              <a:gdLst>
                <a:gd name="connsiteX0" fmla="*/ -717 w 2522886"/>
                <a:gd name="connsiteY0" fmla="*/ 1466315 h 1466883"/>
                <a:gd name="connsiteX1" fmla="*/ 593548 w 2522886"/>
                <a:gd name="connsiteY1" fmla="*/ 894 h 1466883"/>
                <a:gd name="connsiteX2" fmla="*/ 1178573 w 2522886"/>
                <a:gd name="connsiteY2" fmla="*/ 945868 h 1466883"/>
                <a:gd name="connsiteX3" fmla="*/ 2142694 w 2522886"/>
                <a:gd name="connsiteY3" fmla="*/ 423136 h 1466883"/>
                <a:gd name="connsiteX4" fmla="*/ 2522170 w 2522886"/>
                <a:gd name="connsiteY4" fmla="*/ 1466315 h 146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2886" h="1466883">
                  <a:moveTo>
                    <a:pt x="-717" y="1466315"/>
                  </a:moveTo>
                  <a:cubicBezTo>
                    <a:pt x="-717" y="1466315"/>
                    <a:pt x="129871" y="44328"/>
                    <a:pt x="593548" y="894"/>
                  </a:cubicBezTo>
                  <a:cubicBezTo>
                    <a:pt x="1057225" y="-42540"/>
                    <a:pt x="815480" y="895386"/>
                    <a:pt x="1178573" y="945868"/>
                  </a:cubicBezTo>
                  <a:cubicBezTo>
                    <a:pt x="1541666" y="996351"/>
                    <a:pt x="1780553" y="253115"/>
                    <a:pt x="2142694" y="423136"/>
                  </a:cubicBezTo>
                  <a:cubicBezTo>
                    <a:pt x="2504835" y="593158"/>
                    <a:pt x="2522170" y="1466315"/>
                    <a:pt x="2522170" y="1466315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081287" y="3425289"/>
              <a:ext cx="7133708" cy="3432713"/>
              <a:chOff x="4814887" y="2809971"/>
              <a:chExt cx="2573472" cy="1238345"/>
            </a:xfrm>
          </p:grpSpPr>
          <p:sp>
            <p:nvSpPr>
              <p:cNvPr id="47" name="任意多边形: 形状 46"/>
              <p:cNvSpPr/>
              <p:nvPr/>
            </p:nvSpPr>
            <p:spPr>
              <a:xfrm>
                <a:off x="4823182" y="2809971"/>
                <a:ext cx="2565177" cy="1238345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4814887" y="3078384"/>
                <a:ext cx="2565177" cy="969835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0" name="任意多边形: 形状 29"/>
            <p:cNvSpPr/>
            <p:nvPr/>
          </p:nvSpPr>
          <p:spPr>
            <a:xfrm>
              <a:off x="1" y="190"/>
              <a:ext cx="2161002" cy="1411922"/>
            </a:xfrm>
            <a:custGeom>
              <a:avLst/>
              <a:gdLst>
                <a:gd name="connsiteX0" fmla="*/ 1268371 w 1517309"/>
                <a:gd name="connsiteY0" fmla="*/ 206732 h 991356"/>
                <a:gd name="connsiteX1" fmla="*/ 1316567 w 1517309"/>
                <a:gd name="connsiteY1" fmla="*/ -532 h 991356"/>
                <a:gd name="connsiteX2" fmla="*/ -73 w 1517309"/>
                <a:gd name="connsiteY2" fmla="*/ -532 h 991356"/>
                <a:gd name="connsiteX3" fmla="*/ -73 w 1517309"/>
                <a:gd name="connsiteY3" fmla="*/ 724321 h 991356"/>
                <a:gd name="connsiteX4" fmla="*/ 1268371 w 1517309"/>
                <a:gd name="connsiteY4" fmla="*/ 206732 h 99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7309" h="991356">
                  <a:moveTo>
                    <a:pt x="1268371" y="206732"/>
                  </a:moveTo>
                  <a:cubicBezTo>
                    <a:pt x="1184646" y="147581"/>
                    <a:pt x="1067584" y="114911"/>
                    <a:pt x="1316567" y="-532"/>
                  </a:cubicBezTo>
                  <a:lnTo>
                    <a:pt x="-73" y="-532"/>
                  </a:lnTo>
                  <a:lnTo>
                    <a:pt x="-73" y="724321"/>
                  </a:lnTo>
                  <a:cubicBezTo>
                    <a:pt x="466461" y="1315442"/>
                    <a:pt x="2143338" y="825095"/>
                    <a:pt x="1268371" y="206732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10039547" y="0"/>
              <a:ext cx="2152454" cy="3011248"/>
              <a:chOff x="1059441" y="0"/>
              <a:chExt cx="1083969" cy="1516455"/>
            </a:xfrm>
          </p:grpSpPr>
          <p:sp>
            <p:nvSpPr>
              <p:cNvPr id="45" name="任意多边形: 形状 44"/>
              <p:cNvSpPr/>
              <p:nvPr/>
            </p:nvSpPr>
            <p:spPr>
              <a:xfrm>
                <a:off x="1601395" y="0"/>
                <a:ext cx="542015" cy="1108305"/>
              </a:xfrm>
              <a:custGeom>
                <a:avLst/>
                <a:gdLst>
                  <a:gd name="connsiteX0" fmla="*/ 334487 w 542015"/>
                  <a:gd name="connsiteY0" fmla="*/ 1058076 h 1108305"/>
                  <a:gd name="connsiteX1" fmla="*/ 541942 w 542015"/>
                  <a:gd name="connsiteY1" fmla="*/ 991401 h 1108305"/>
                  <a:gd name="connsiteX2" fmla="*/ 541942 w 542015"/>
                  <a:gd name="connsiteY2" fmla="*/ -532 h 1108305"/>
                  <a:gd name="connsiteX3" fmla="*/ 463741 w 542015"/>
                  <a:gd name="connsiteY3" fmla="*/ -532 h 1108305"/>
                  <a:gd name="connsiteX4" fmla="*/ 334487 w 542015"/>
                  <a:gd name="connsiteY4" fmla="*/ 1058076 h 110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2015" h="1108305">
                    <a:moveTo>
                      <a:pt x="334487" y="1058076"/>
                    </a:moveTo>
                    <a:cubicBezTo>
                      <a:pt x="400705" y="1027587"/>
                      <a:pt x="470361" y="1005204"/>
                      <a:pt x="541942" y="991401"/>
                    </a:cubicBezTo>
                    <a:lnTo>
                      <a:pt x="541942" y="-532"/>
                    </a:lnTo>
                    <a:lnTo>
                      <a:pt x="463741" y="-532"/>
                    </a:lnTo>
                    <a:cubicBezTo>
                      <a:pt x="21591" y="466003"/>
                      <a:pt x="-250253" y="1322777"/>
                      <a:pt x="334487" y="1058076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1059441" y="648461"/>
                <a:ext cx="1083969" cy="867994"/>
              </a:xfrm>
              <a:custGeom>
                <a:avLst/>
                <a:gdLst>
                  <a:gd name="connsiteX0" fmla="*/ 669083 w 1083969"/>
                  <a:gd name="connsiteY0" fmla="*/ 828524 h 867994"/>
                  <a:gd name="connsiteX1" fmla="*/ 1083896 w 1083969"/>
                  <a:gd name="connsiteY1" fmla="*/ 776231 h 867994"/>
                  <a:gd name="connsiteX2" fmla="*/ 1083896 w 1083969"/>
                  <a:gd name="connsiteY2" fmla="*/ -532 h 867994"/>
                  <a:gd name="connsiteX3" fmla="*/ 927496 w 1083969"/>
                  <a:gd name="connsiteY3" fmla="*/ -532 h 867994"/>
                  <a:gd name="connsiteX4" fmla="*/ 669083 w 1083969"/>
                  <a:gd name="connsiteY4" fmla="*/ 828524 h 86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3969" h="867994">
                    <a:moveTo>
                      <a:pt x="669083" y="828524"/>
                    </a:moveTo>
                    <a:cubicBezTo>
                      <a:pt x="806376" y="804035"/>
                      <a:pt x="944822" y="786576"/>
                      <a:pt x="1083896" y="776231"/>
                    </a:cubicBezTo>
                    <a:lnTo>
                      <a:pt x="1083896" y="-532"/>
                    </a:lnTo>
                    <a:lnTo>
                      <a:pt x="927496" y="-532"/>
                    </a:lnTo>
                    <a:cubicBezTo>
                      <a:pt x="43195" y="364847"/>
                      <a:pt x="-500397" y="1035883"/>
                      <a:pt x="669083" y="828524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9275847" y="2420102"/>
              <a:ext cx="1039464" cy="1014568"/>
              <a:chOff x="6503479" y="2817685"/>
              <a:chExt cx="282320" cy="275558"/>
            </a:xfrm>
          </p:grpSpPr>
          <p:sp>
            <p:nvSpPr>
              <p:cNvPr id="42" name="任意多边形: 形状 41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3" name="任意多边形: 形状 32"/>
            <p:cNvSpPr/>
            <p:nvPr/>
          </p:nvSpPr>
          <p:spPr>
            <a:xfrm rot="18900000">
              <a:off x="7676232" y="4652058"/>
              <a:ext cx="395938" cy="395930"/>
            </a:xfrm>
            <a:custGeom>
              <a:avLst/>
              <a:gdLst>
                <a:gd name="connsiteX0" fmla="*/ 209 w 107537"/>
                <a:gd name="connsiteY0" fmla="*/ -602 h 107537"/>
                <a:gd name="connsiteX1" fmla="*/ 107747 w 107537"/>
                <a:gd name="connsiteY1" fmla="*/ -602 h 107537"/>
                <a:gd name="connsiteX2" fmla="*/ 107747 w 107537"/>
                <a:gd name="connsiteY2" fmla="*/ 106935 h 107537"/>
                <a:gd name="connsiteX3" fmla="*/ 209 w 107537"/>
                <a:gd name="connsiteY3" fmla="*/ 106935 h 107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37" h="107537">
                  <a:moveTo>
                    <a:pt x="209" y="-602"/>
                  </a:moveTo>
                  <a:lnTo>
                    <a:pt x="107747" y="-602"/>
                  </a:lnTo>
                  <a:lnTo>
                    <a:pt x="107747" y="106935"/>
                  </a:lnTo>
                  <a:lnTo>
                    <a:pt x="209" y="106935"/>
                  </a:lnTo>
                  <a:close/>
                </a:path>
              </a:pathLst>
            </a:custGeom>
            <a:noFill/>
            <a:ln w="28575" cap="sq">
              <a:solidFill>
                <a:schemeClr val="accent1">
                  <a:lumMod val="50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679273" y="5680695"/>
              <a:ext cx="560064" cy="560064"/>
              <a:chOff x="5405437" y="3902487"/>
              <a:chExt cx="152114" cy="152114"/>
            </a:xfrm>
          </p:grpSpPr>
          <p:sp>
            <p:nvSpPr>
              <p:cNvPr id="40" name="任意多边形: 形状 39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560176" y="1055015"/>
              <a:ext cx="679159" cy="665717"/>
              <a:chOff x="5924263" y="3262026"/>
              <a:chExt cx="341757" cy="334994"/>
            </a:xfrm>
          </p:grpSpPr>
          <p:sp>
            <p:nvSpPr>
              <p:cNvPr id="37" name="任意多边形: 形状 36"/>
              <p:cNvSpPr/>
              <p:nvPr/>
            </p:nvSpPr>
            <p:spPr>
              <a:xfrm>
                <a:off x="5924263" y="3262026"/>
                <a:ext cx="341756" cy="334994"/>
              </a:xfrm>
              <a:custGeom>
                <a:avLst/>
                <a:gdLst>
                  <a:gd name="connsiteX0" fmla="*/ 341757 w 341756"/>
                  <a:gd name="connsiteY0" fmla="*/ 120301 h 334994"/>
                  <a:gd name="connsiteX1" fmla="*/ 0 w 341756"/>
                  <a:gd name="connsiteY1" fmla="*/ 0 h 334994"/>
                  <a:gd name="connsiteX2" fmla="*/ 114395 w 341756"/>
                  <a:gd name="connsiteY2" fmla="*/ 334994 h 334994"/>
                  <a:gd name="connsiteX3" fmla="*/ 341757 w 341756"/>
                  <a:gd name="connsiteY3" fmla="*/ 120301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756" h="334994">
                    <a:moveTo>
                      <a:pt x="341757" y="120301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341757" y="120301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5924263" y="3262026"/>
                <a:ext cx="220884" cy="334994"/>
              </a:xfrm>
              <a:custGeom>
                <a:avLst/>
                <a:gdLst>
                  <a:gd name="connsiteX0" fmla="*/ 220885 w 220884"/>
                  <a:gd name="connsiteY0" fmla="*/ 174308 h 334994"/>
                  <a:gd name="connsiteX1" fmla="*/ 0 w 220884"/>
                  <a:gd name="connsiteY1" fmla="*/ 0 h 334994"/>
                  <a:gd name="connsiteX2" fmla="*/ 114395 w 220884"/>
                  <a:gd name="connsiteY2" fmla="*/ 334994 h 334994"/>
                  <a:gd name="connsiteX3" fmla="*/ 220885 w 220884"/>
                  <a:gd name="connsiteY3" fmla="*/ 174308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884" h="334994">
                    <a:moveTo>
                      <a:pt x="220885" y="174308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220885" y="174308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6145148" y="3382327"/>
                <a:ext cx="120872" cy="54006"/>
              </a:xfrm>
              <a:custGeom>
                <a:avLst/>
                <a:gdLst>
                  <a:gd name="connsiteX0" fmla="*/ 120872 w 120872"/>
                  <a:gd name="connsiteY0" fmla="*/ 0 h 54006"/>
                  <a:gd name="connsiteX1" fmla="*/ 0 w 120872"/>
                  <a:gd name="connsiteY1" fmla="*/ 54007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872" h="54006">
                    <a:moveTo>
                      <a:pt x="120872" y="0"/>
                    </a:moveTo>
                    <a:lnTo>
                      <a:pt x="0" y="54007"/>
                    </a:lnTo>
                  </a:path>
                </a:pathLst>
              </a:custGeom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95828" y="1567968"/>
            <a:ext cx="6515100" cy="2092825"/>
          </a:xfrm>
        </p:spPr>
        <p:txBody>
          <a:bodyPr wrap="square" anchor="b" anchorCtr="0">
            <a:normAutofit/>
          </a:bodyPr>
          <a:lstStyle>
            <a:lvl1pPr algn="l">
              <a:tabLst>
                <a:tab pos="4746625" algn="l"/>
              </a:tabLst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095828" y="4297757"/>
            <a:ext cx="6515100" cy="403083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1095828" y="4700840"/>
            <a:ext cx="6515100" cy="403083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1" y="0"/>
            <a:ext cx="12214994" cy="6858002"/>
            <a:chOff x="1" y="0"/>
            <a:chExt cx="12214994" cy="6858002"/>
          </a:xfrm>
        </p:grpSpPr>
        <p:sp>
          <p:nvSpPr>
            <p:cNvPr id="39" name="任意多边形: 形状 38"/>
            <p:cNvSpPr/>
            <p:nvPr/>
          </p:nvSpPr>
          <p:spPr>
            <a:xfrm rot="10800000">
              <a:off x="6793301" y="1"/>
              <a:ext cx="2522886" cy="1466883"/>
            </a:xfrm>
            <a:custGeom>
              <a:avLst/>
              <a:gdLst>
                <a:gd name="connsiteX0" fmla="*/ -717 w 2522886"/>
                <a:gd name="connsiteY0" fmla="*/ 1466315 h 1466883"/>
                <a:gd name="connsiteX1" fmla="*/ 593548 w 2522886"/>
                <a:gd name="connsiteY1" fmla="*/ 894 h 1466883"/>
                <a:gd name="connsiteX2" fmla="*/ 1178573 w 2522886"/>
                <a:gd name="connsiteY2" fmla="*/ 945868 h 1466883"/>
                <a:gd name="connsiteX3" fmla="*/ 2142694 w 2522886"/>
                <a:gd name="connsiteY3" fmla="*/ 423136 h 1466883"/>
                <a:gd name="connsiteX4" fmla="*/ 2522170 w 2522886"/>
                <a:gd name="connsiteY4" fmla="*/ 1466315 h 146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2886" h="1466883">
                  <a:moveTo>
                    <a:pt x="-717" y="1466315"/>
                  </a:moveTo>
                  <a:cubicBezTo>
                    <a:pt x="-717" y="1466315"/>
                    <a:pt x="129871" y="44328"/>
                    <a:pt x="593548" y="894"/>
                  </a:cubicBezTo>
                  <a:cubicBezTo>
                    <a:pt x="1057225" y="-42540"/>
                    <a:pt x="815480" y="895386"/>
                    <a:pt x="1178573" y="945868"/>
                  </a:cubicBezTo>
                  <a:cubicBezTo>
                    <a:pt x="1541666" y="996351"/>
                    <a:pt x="1780553" y="253115"/>
                    <a:pt x="2142694" y="423136"/>
                  </a:cubicBezTo>
                  <a:cubicBezTo>
                    <a:pt x="2504835" y="593158"/>
                    <a:pt x="2522170" y="1466315"/>
                    <a:pt x="2522170" y="1466315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081287" y="3425289"/>
              <a:ext cx="7133708" cy="3432713"/>
              <a:chOff x="4814887" y="2809971"/>
              <a:chExt cx="2573472" cy="1238345"/>
            </a:xfrm>
          </p:grpSpPr>
          <p:sp>
            <p:nvSpPr>
              <p:cNvPr id="31" name="任意多边形: 形状 30"/>
              <p:cNvSpPr/>
              <p:nvPr/>
            </p:nvSpPr>
            <p:spPr>
              <a:xfrm>
                <a:off x="4823182" y="2809971"/>
                <a:ext cx="2565177" cy="1238345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4814887" y="3078384"/>
                <a:ext cx="2565177" cy="969835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1" name="任意多边形: 形状 20"/>
            <p:cNvSpPr/>
            <p:nvPr/>
          </p:nvSpPr>
          <p:spPr>
            <a:xfrm>
              <a:off x="1" y="190"/>
              <a:ext cx="2161002" cy="1411922"/>
            </a:xfrm>
            <a:custGeom>
              <a:avLst/>
              <a:gdLst>
                <a:gd name="connsiteX0" fmla="*/ 1268371 w 1517309"/>
                <a:gd name="connsiteY0" fmla="*/ 206732 h 991356"/>
                <a:gd name="connsiteX1" fmla="*/ 1316567 w 1517309"/>
                <a:gd name="connsiteY1" fmla="*/ -532 h 991356"/>
                <a:gd name="connsiteX2" fmla="*/ -73 w 1517309"/>
                <a:gd name="connsiteY2" fmla="*/ -532 h 991356"/>
                <a:gd name="connsiteX3" fmla="*/ -73 w 1517309"/>
                <a:gd name="connsiteY3" fmla="*/ 724321 h 991356"/>
                <a:gd name="connsiteX4" fmla="*/ 1268371 w 1517309"/>
                <a:gd name="connsiteY4" fmla="*/ 206732 h 99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7309" h="991356">
                  <a:moveTo>
                    <a:pt x="1268371" y="206732"/>
                  </a:moveTo>
                  <a:cubicBezTo>
                    <a:pt x="1184646" y="147581"/>
                    <a:pt x="1067584" y="114911"/>
                    <a:pt x="1316567" y="-532"/>
                  </a:cubicBezTo>
                  <a:lnTo>
                    <a:pt x="-73" y="-532"/>
                  </a:lnTo>
                  <a:lnTo>
                    <a:pt x="-73" y="724321"/>
                  </a:lnTo>
                  <a:cubicBezTo>
                    <a:pt x="466461" y="1315442"/>
                    <a:pt x="2143338" y="825095"/>
                    <a:pt x="1268371" y="206732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0039547" y="0"/>
              <a:ext cx="2152454" cy="3011248"/>
              <a:chOff x="1059441" y="0"/>
              <a:chExt cx="1083969" cy="1516455"/>
            </a:xfrm>
          </p:grpSpPr>
          <p:sp>
            <p:nvSpPr>
              <p:cNvPr id="23" name="任意多边形: 形状 22"/>
              <p:cNvSpPr/>
              <p:nvPr/>
            </p:nvSpPr>
            <p:spPr>
              <a:xfrm>
                <a:off x="1601395" y="0"/>
                <a:ext cx="542015" cy="1108305"/>
              </a:xfrm>
              <a:custGeom>
                <a:avLst/>
                <a:gdLst>
                  <a:gd name="connsiteX0" fmla="*/ 334487 w 542015"/>
                  <a:gd name="connsiteY0" fmla="*/ 1058076 h 1108305"/>
                  <a:gd name="connsiteX1" fmla="*/ 541942 w 542015"/>
                  <a:gd name="connsiteY1" fmla="*/ 991401 h 1108305"/>
                  <a:gd name="connsiteX2" fmla="*/ 541942 w 542015"/>
                  <a:gd name="connsiteY2" fmla="*/ -532 h 1108305"/>
                  <a:gd name="connsiteX3" fmla="*/ 463741 w 542015"/>
                  <a:gd name="connsiteY3" fmla="*/ -532 h 1108305"/>
                  <a:gd name="connsiteX4" fmla="*/ 334487 w 542015"/>
                  <a:gd name="connsiteY4" fmla="*/ 1058076 h 110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2015" h="1108305">
                    <a:moveTo>
                      <a:pt x="334487" y="1058076"/>
                    </a:moveTo>
                    <a:cubicBezTo>
                      <a:pt x="400705" y="1027587"/>
                      <a:pt x="470361" y="1005204"/>
                      <a:pt x="541942" y="991401"/>
                    </a:cubicBezTo>
                    <a:lnTo>
                      <a:pt x="541942" y="-532"/>
                    </a:lnTo>
                    <a:lnTo>
                      <a:pt x="463741" y="-532"/>
                    </a:lnTo>
                    <a:cubicBezTo>
                      <a:pt x="21591" y="466003"/>
                      <a:pt x="-250253" y="1322777"/>
                      <a:pt x="334487" y="1058076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059441" y="648461"/>
                <a:ext cx="1083969" cy="867994"/>
              </a:xfrm>
              <a:custGeom>
                <a:avLst/>
                <a:gdLst>
                  <a:gd name="connsiteX0" fmla="*/ 669083 w 1083969"/>
                  <a:gd name="connsiteY0" fmla="*/ 828524 h 867994"/>
                  <a:gd name="connsiteX1" fmla="*/ 1083896 w 1083969"/>
                  <a:gd name="connsiteY1" fmla="*/ 776231 h 867994"/>
                  <a:gd name="connsiteX2" fmla="*/ 1083896 w 1083969"/>
                  <a:gd name="connsiteY2" fmla="*/ -532 h 867994"/>
                  <a:gd name="connsiteX3" fmla="*/ 927496 w 1083969"/>
                  <a:gd name="connsiteY3" fmla="*/ -532 h 867994"/>
                  <a:gd name="connsiteX4" fmla="*/ 669083 w 1083969"/>
                  <a:gd name="connsiteY4" fmla="*/ 828524 h 86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3969" h="867994">
                    <a:moveTo>
                      <a:pt x="669083" y="828524"/>
                    </a:moveTo>
                    <a:cubicBezTo>
                      <a:pt x="806376" y="804035"/>
                      <a:pt x="944822" y="786576"/>
                      <a:pt x="1083896" y="776231"/>
                    </a:cubicBezTo>
                    <a:lnTo>
                      <a:pt x="1083896" y="-532"/>
                    </a:lnTo>
                    <a:lnTo>
                      <a:pt x="927496" y="-532"/>
                    </a:lnTo>
                    <a:cubicBezTo>
                      <a:pt x="43195" y="364847"/>
                      <a:pt x="-500397" y="1035883"/>
                      <a:pt x="669083" y="828524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9275847" y="2420102"/>
              <a:ext cx="1039464" cy="1014568"/>
              <a:chOff x="6503479" y="2817685"/>
              <a:chExt cx="282320" cy="275558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4" name="任意多边形: 形状 13"/>
            <p:cNvSpPr/>
            <p:nvPr/>
          </p:nvSpPr>
          <p:spPr>
            <a:xfrm rot="18900000">
              <a:off x="7676232" y="4652058"/>
              <a:ext cx="395938" cy="395930"/>
            </a:xfrm>
            <a:custGeom>
              <a:avLst/>
              <a:gdLst>
                <a:gd name="connsiteX0" fmla="*/ 209 w 107537"/>
                <a:gd name="connsiteY0" fmla="*/ -602 h 107537"/>
                <a:gd name="connsiteX1" fmla="*/ 107747 w 107537"/>
                <a:gd name="connsiteY1" fmla="*/ -602 h 107537"/>
                <a:gd name="connsiteX2" fmla="*/ 107747 w 107537"/>
                <a:gd name="connsiteY2" fmla="*/ 106935 h 107537"/>
                <a:gd name="connsiteX3" fmla="*/ 209 w 107537"/>
                <a:gd name="connsiteY3" fmla="*/ 106935 h 107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37" h="107537">
                  <a:moveTo>
                    <a:pt x="209" y="-602"/>
                  </a:moveTo>
                  <a:lnTo>
                    <a:pt x="107747" y="-602"/>
                  </a:lnTo>
                  <a:lnTo>
                    <a:pt x="107747" y="106935"/>
                  </a:lnTo>
                  <a:lnTo>
                    <a:pt x="209" y="106935"/>
                  </a:lnTo>
                  <a:close/>
                </a:path>
              </a:pathLst>
            </a:custGeom>
            <a:noFill/>
            <a:ln w="28575" cap="sq">
              <a:solidFill>
                <a:schemeClr val="accent1">
                  <a:lumMod val="50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679273" y="5680695"/>
              <a:ext cx="560064" cy="560064"/>
              <a:chOff x="5405437" y="3902487"/>
              <a:chExt cx="152114" cy="152114"/>
            </a:xfrm>
          </p:grpSpPr>
          <p:sp>
            <p:nvSpPr>
              <p:cNvPr id="15" name="任意多边形: 形状 14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560176" y="1055015"/>
              <a:ext cx="679159" cy="665717"/>
              <a:chOff x="5924263" y="3262026"/>
              <a:chExt cx="341757" cy="334994"/>
            </a:xfrm>
          </p:grpSpPr>
          <p:sp>
            <p:nvSpPr>
              <p:cNvPr id="43" name="任意多边形: 形状 42"/>
              <p:cNvSpPr/>
              <p:nvPr/>
            </p:nvSpPr>
            <p:spPr>
              <a:xfrm>
                <a:off x="5924263" y="3262026"/>
                <a:ext cx="341756" cy="334994"/>
              </a:xfrm>
              <a:custGeom>
                <a:avLst/>
                <a:gdLst>
                  <a:gd name="connsiteX0" fmla="*/ 341757 w 341756"/>
                  <a:gd name="connsiteY0" fmla="*/ 120301 h 334994"/>
                  <a:gd name="connsiteX1" fmla="*/ 0 w 341756"/>
                  <a:gd name="connsiteY1" fmla="*/ 0 h 334994"/>
                  <a:gd name="connsiteX2" fmla="*/ 114395 w 341756"/>
                  <a:gd name="connsiteY2" fmla="*/ 334994 h 334994"/>
                  <a:gd name="connsiteX3" fmla="*/ 341757 w 341756"/>
                  <a:gd name="connsiteY3" fmla="*/ 120301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756" h="334994">
                    <a:moveTo>
                      <a:pt x="341757" y="120301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341757" y="120301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5924263" y="3262026"/>
                <a:ext cx="220884" cy="334994"/>
              </a:xfrm>
              <a:custGeom>
                <a:avLst/>
                <a:gdLst>
                  <a:gd name="connsiteX0" fmla="*/ 220885 w 220884"/>
                  <a:gd name="connsiteY0" fmla="*/ 174308 h 334994"/>
                  <a:gd name="connsiteX1" fmla="*/ 0 w 220884"/>
                  <a:gd name="connsiteY1" fmla="*/ 0 h 334994"/>
                  <a:gd name="connsiteX2" fmla="*/ 114395 w 220884"/>
                  <a:gd name="connsiteY2" fmla="*/ 334994 h 334994"/>
                  <a:gd name="connsiteX3" fmla="*/ 220885 w 220884"/>
                  <a:gd name="connsiteY3" fmla="*/ 174308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884" h="334994">
                    <a:moveTo>
                      <a:pt x="220885" y="174308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220885" y="174308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6145148" y="3382327"/>
                <a:ext cx="120872" cy="54006"/>
              </a:xfrm>
              <a:custGeom>
                <a:avLst/>
                <a:gdLst>
                  <a:gd name="connsiteX0" fmla="*/ 120872 w 120872"/>
                  <a:gd name="connsiteY0" fmla="*/ 0 h 54006"/>
                  <a:gd name="connsiteX1" fmla="*/ 0 w 120872"/>
                  <a:gd name="connsiteY1" fmla="*/ 54007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872" h="54006">
                    <a:moveTo>
                      <a:pt x="120872" y="0"/>
                    </a:moveTo>
                    <a:lnTo>
                      <a:pt x="0" y="54007"/>
                    </a:lnTo>
                  </a:path>
                </a:pathLst>
              </a:custGeom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9337" y="1130300"/>
            <a:ext cx="6489540" cy="2579605"/>
          </a:xfrm>
        </p:spPr>
        <p:txBody>
          <a:bodyPr wrap="square"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9337" y="3780057"/>
            <a:ext cx="6489540" cy="872982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239337" y="4954751"/>
            <a:ext cx="5877156" cy="358361"/>
          </a:xfrm>
        </p:spPr>
        <p:txBody>
          <a:bodyPr wrap="square"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1239337" y="5313112"/>
            <a:ext cx="5877156" cy="358361"/>
          </a:xfrm>
        </p:spPr>
        <p:txBody>
          <a:bodyPr wrap="square"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60400" y="1130300"/>
            <a:ext cx="10858500" cy="5003800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>
              <a:buFont typeface="+mj-lt"/>
              <a:buAutoNum type="arabicPeriod"/>
              <a:defRPr/>
            </a:lvl4pPr>
            <a:lvl5pPr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-579780" y="-480519"/>
            <a:ext cx="12771780" cy="7338519"/>
            <a:chOff x="-579780" y="-480519"/>
            <a:chExt cx="12771780" cy="7338519"/>
          </a:xfrm>
        </p:grpSpPr>
        <p:sp>
          <p:nvSpPr>
            <p:cNvPr id="9" name="任意多边形: 形状 8"/>
            <p:cNvSpPr/>
            <p:nvPr/>
          </p:nvSpPr>
          <p:spPr>
            <a:xfrm rot="9336368" flipH="1">
              <a:off x="-579780" y="-480519"/>
              <a:ext cx="3659369" cy="1933001"/>
            </a:xfrm>
            <a:custGeom>
              <a:avLst/>
              <a:gdLst>
                <a:gd name="connsiteX0" fmla="*/ 1437418 w 6018766"/>
                <a:gd name="connsiteY0" fmla="*/ 3179313 h 3179313"/>
                <a:gd name="connsiteX1" fmla="*/ 6018766 w 6018766"/>
                <a:gd name="connsiteY1" fmla="*/ 1101712 h 3179313"/>
                <a:gd name="connsiteX2" fmla="*/ 5931610 w 6018766"/>
                <a:gd name="connsiteY2" fmla="*/ 1049867 h 3179313"/>
                <a:gd name="connsiteX3" fmla="*/ 5698625 w 6018766"/>
                <a:gd name="connsiteY3" fmla="*/ 959854 h 3179313"/>
                <a:gd name="connsiteX4" fmla="*/ 2185593 w 6018766"/>
                <a:gd name="connsiteY4" fmla="*/ 2144043 h 3179313"/>
                <a:gd name="connsiteX5" fmla="*/ 53899 w 6018766"/>
                <a:gd name="connsiteY5" fmla="*/ 3313 h 3179313"/>
                <a:gd name="connsiteX6" fmla="*/ 0 w 6018766"/>
                <a:gd name="connsiteY6" fmla="*/ 9641 h 317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18766" h="3179313">
                  <a:moveTo>
                    <a:pt x="1437418" y="3179313"/>
                  </a:moveTo>
                  <a:lnTo>
                    <a:pt x="6018766" y="1101712"/>
                  </a:lnTo>
                  <a:lnTo>
                    <a:pt x="5931610" y="1049867"/>
                  </a:lnTo>
                  <a:cubicBezTo>
                    <a:pt x="5858662" y="1014222"/>
                    <a:pt x="5781097" y="983927"/>
                    <a:pt x="5698625" y="959854"/>
                  </a:cubicBezTo>
                  <a:cubicBezTo>
                    <a:pt x="4379068" y="574691"/>
                    <a:pt x="3508620" y="2258407"/>
                    <a:pt x="2185593" y="2144043"/>
                  </a:cubicBezTo>
                  <a:cubicBezTo>
                    <a:pt x="862568" y="2029682"/>
                    <a:pt x="1743430" y="-95081"/>
                    <a:pt x="53899" y="3313"/>
                  </a:cubicBezTo>
                  <a:lnTo>
                    <a:pt x="0" y="9641"/>
                  </a:ln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7750629" y="4713918"/>
              <a:ext cx="4441371" cy="2144082"/>
              <a:chOff x="5081287" y="3425287"/>
              <a:chExt cx="7110714" cy="3432713"/>
            </a:xfrm>
          </p:grpSpPr>
          <p:sp>
            <p:nvSpPr>
              <p:cNvPr id="10" name="任意多边形: 形状 9"/>
              <p:cNvSpPr/>
              <p:nvPr/>
            </p:nvSpPr>
            <p:spPr>
              <a:xfrm>
                <a:off x="5081287" y="3425287"/>
                <a:ext cx="7110714" cy="3432713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5081287" y="4169335"/>
                <a:ext cx="7110714" cy="2688399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9776707" y="5103156"/>
              <a:ext cx="1039464" cy="1014568"/>
              <a:chOff x="6503479" y="2817685"/>
              <a:chExt cx="282320" cy="275558"/>
            </a:xfrm>
          </p:grpSpPr>
          <p:sp>
            <p:nvSpPr>
              <p:cNvPr id="14" name="任意多边形: 形状 13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79273" y="5680695"/>
              <a:ext cx="560064" cy="560064"/>
              <a:chOff x="5405437" y="3902487"/>
              <a:chExt cx="152114" cy="152114"/>
            </a:xfrm>
          </p:grpSpPr>
          <p:sp>
            <p:nvSpPr>
              <p:cNvPr id="19" name="任意多边形: 形状 18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560178" y="335083"/>
              <a:ext cx="679159" cy="665717"/>
              <a:chOff x="5924263" y="3262026"/>
              <a:chExt cx="341757" cy="334994"/>
            </a:xfrm>
          </p:grpSpPr>
          <p:sp>
            <p:nvSpPr>
              <p:cNvPr id="22" name="任意多边形: 形状 21"/>
              <p:cNvSpPr/>
              <p:nvPr/>
            </p:nvSpPr>
            <p:spPr>
              <a:xfrm>
                <a:off x="5924263" y="3262026"/>
                <a:ext cx="341756" cy="334994"/>
              </a:xfrm>
              <a:custGeom>
                <a:avLst/>
                <a:gdLst>
                  <a:gd name="connsiteX0" fmla="*/ 341757 w 341756"/>
                  <a:gd name="connsiteY0" fmla="*/ 120301 h 334994"/>
                  <a:gd name="connsiteX1" fmla="*/ 0 w 341756"/>
                  <a:gd name="connsiteY1" fmla="*/ 0 h 334994"/>
                  <a:gd name="connsiteX2" fmla="*/ 114395 w 341756"/>
                  <a:gd name="connsiteY2" fmla="*/ 334994 h 334994"/>
                  <a:gd name="connsiteX3" fmla="*/ 341757 w 341756"/>
                  <a:gd name="connsiteY3" fmla="*/ 120301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756" h="334994">
                    <a:moveTo>
                      <a:pt x="341757" y="120301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341757" y="120301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924263" y="3262026"/>
                <a:ext cx="220884" cy="334994"/>
              </a:xfrm>
              <a:custGeom>
                <a:avLst/>
                <a:gdLst>
                  <a:gd name="connsiteX0" fmla="*/ 220885 w 220884"/>
                  <a:gd name="connsiteY0" fmla="*/ 174308 h 334994"/>
                  <a:gd name="connsiteX1" fmla="*/ 0 w 220884"/>
                  <a:gd name="connsiteY1" fmla="*/ 0 h 334994"/>
                  <a:gd name="connsiteX2" fmla="*/ 114395 w 220884"/>
                  <a:gd name="connsiteY2" fmla="*/ 334994 h 334994"/>
                  <a:gd name="connsiteX3" fmla="*/ 220885 w 220884"/>
                  <a:gd name="connsiteY3" fmla="*/ 174308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884" h="334994">
                    <a:moveTo>
                      <a:pt x="220885" y="174308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220885" y="174308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6145148" y="3382327"/>
                <a:ext cx="120872" cy="54006"/>
              </a:xfrm>
              <a:custGeom>
                <a:avLst/>
                <a:gdLst>
                  <a:gd name="connsiteX0" fmla="*/ 120872 w 120872"/>
                  <a:gd name="connsiteY0" fmla="*/ 0 h 54006"/>
                  <a:gd name="connsiteX1" fmla="*/ 0 w 120872"/>
                  <a:gd name="connsiteY1" fmla="*/ 54007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872" h="54006">
                    <a:moveTo>
                      <a:pt x="120872" y="0"/>
                    </a:moveTo>
                    <a:lnTo>
                      <a:pt x="0" y="54007"/>
                    </a:lnTo>
                  </a:path>
                </a:pathLst>
              </a:custGeom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0" y="0"/>
            <a:ext cx="13148230" cy="7649510"/>
            <a:chOff x="0" y="0"/>
            <a:chExt cx="13148230" cy="7649510"/>
          </a:xfrm>
        </p:grpSpPr>
        <p:grpSp>
          <p:nvGrpSpPr>
            <p:cNvPr id="32" name="组合 31"/>
            <p:cNvGrpSpPr/>
            <p:nvPr/>
          </p:nvGrpSpPr>
          <p:grpSpPr>
            <a:xfrm flipH="1">
              <a:off x="0" y="0"/>
              <a:ext cx="2161002" cy="1720542"/>
              <a:chOff x="10030998" y="190"/>
              <a:chExt cx="2161002" cy="1720542"/>
            </a:xfrm>
          </p:grpSpPr>
          <p:sp>
            <p:nvSpPr>
              <p:cNvPr id="10" name="任意多边形: 形状 9"/>
              <p:cNvSpPr/>
              <p:nvPr/>
            </p:nvSpPr>
            <p:spPr>
              <a:xfrm flipH="1">
                <a:off x="10030998" y="190"/>
                <a:ext cx="2161002" cy="1411922"/>
              </a:xfrm>
              <a:custGeom>
                <a:avLst/>
                <a:gdLst>
                  <a:gd name="connsiteX0" fmla="*/ 1268371 w 1517309"/>
                  <a:gd name="connsiteY0" fmla="*/ 206732 h 991356"/>
                  <a:gd name="connsiteX1" fmla="*/ 1316567 w 1517309"/>
                  <a:gd name="connsiteY1" fmla="*/ -532 h 991356"/>
                  <a:gd name="connsiteX2" fmla="*/ -73 w 1517309"/>
                  <a:gd name="connsiteY2" fmla="*/ -532 h 991356"/>
                  <a:gd name="connsiteX3" fmla="*/ -73 w 1517309"/>
                  <a:gd name="connsiteY3" fmla="*/ 724321 h 991356"/>
                  <a:gd name="connsiteX4" fmla="*/ 1268371 w 1517309"/>
                  <a:gd name="connsiteY4" fmla="*/ 206732 h 991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7309" h="991356">
                    <a:moveTo>
                      <a:pt x="1268371" y="206732"/>
                    </a:moveTo>
                    <a:cubicBezTo>
                      <a:pt x="1184646" y="147581"/>
                      <a:pt x="1067584" y="114911"/>
                      <a:pt x="1316567" y="-532"/>
                    </a:cubicBezTo>
                    <a:lnTo>
                      <a:pt x="-73" y="-532"/>
                    </a:lnTo>
                    <a:lnTo>
                      <a:pt x="-73" y="724321"/>
                    </a:lnTo>
                    <a:cubicBezTo>
                      <a:pt x="466461" y="1315442"/>
                      <a:pt x="2143338" y="825095"/>
                      <a:pt x="1268371" y="206732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 flipH="1">
                <a:off x="10952666" y="1055015"/>
                <a:ext cx="679159" cy="665717"/>
                <a:chOff x="5924263" y="3262026"/>
                <a:chExt cx="341757" cy="334994"/>
              </a:xfrm>
            </p:grpSpPr>
            <p:sp>
              <p:nvSpPr>
                <p:cNvPr id="17" name="任意多边形: 形状 16"/>
                <p:cNvSpPr/>
                <p:nvPr/>
              </p:nvSpPr>
              <p:spPr>
                <a:xfrm>
                  <a:off x="5924263" y="3262026"/>
                  <a:ext cx="341756" cy="334994"/>
                </a:xfrm>
                <a:custGeom>
                  <a:avLst/>
                  <a:gdLst>
                    <a:gd name="connsiteX0" fmla="*/ 341757 w 341756"/>
                    <a:gd name="connsiteY0" fmla="*/ 120301 h 334994"/>
                    <a:gd name="connsiteX1" fmla="*/ 0 w 341756"/>
                    <a:gd name="connsiteY1" fmla="*/ 0 h 334994"/>
                    <a:gd name="connsiteX2" fmla="*/ 114395 w 341756"/>
                    <a:gd name="connsiteY2" fmla="*/ 334994 h 334994"/>
                    <a:gd name="connsiteX3" fmla="*/ 341757 w 341756"/>
                    <a:gd name="connsiteY3" fmla="*/ 120301 h 334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1756" h="334994">
                      <a:moveTo>
                        <a:pt x="341757" y="120301"/>
                      </a:moveTo>
                      <a:lnTo>
                        <a:pt x="0" y="0"/>
                      </a:lnTo>
                      <a:lnTo>
                        <a:pt x="114395" y="334994"/>
                      </a:lnTo>
                      <a:lnTo>
                        <a:pt x="341757" y="120301"/>
                      </a:lnTo>
                      <a:close/>
                    </a:path>
                  </a:pathLst>
                </a:custGeom>
                <a:noFill/>
                <a:ln w="28575" cap="sq">
                  <a:solidFill>
                    <a:schemeClr val="accent1">
                      <a:lumMod val="50000"/>
                    </a:schemeClr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任意多边形: 形状 17"/>
                <p:cNvSpPr/>
                <p:nvPr/>
              </p:nvSpPr>
              <p:spPr>
                <a:xfrm>
                  <a:off x="5924263" y="3262026"/>
                  <a:ext cx="220884" cy="334994"/>
                </a:xfrm>
                <a:custGeom>
                  <a:avLst/>
                  <a:gdLst>
                    <a:gd name="connsiteX0" fmla="*/ 220885 w 220884"/>
                    <a:gd name="connsiteY0" fmla="*/ 174308 h 334994"/>
                    <a:gd name="connsiteX1" fmla="*/ 0 w 220884"/>
                    <a:gd name="connsiteY1" fmla="*/ 0 h 334994"/>
                    <a:gd name="connsiteX2" fmla="*/ 114395 w 220884"/>
                    <a:gd name="connsiteY2" fmla="*/ 334994 h 334994"/>
                    <a:gd name="connsiteX3" fmla="*/ 220885 w 220884"/>
                    <a:gd name="connsiteY3" fmla="*/ 174308 h 334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0884" h="334994">
                      <a:moveTo>
                        <a:pt x="220885" y="174308"/>
                      </a:moveTo>
                      <a:lnTo>
                        <a:pt x="0" y="0"/>
                      </a:lnTo>
                      <a:lnTo>
                        <a:pt x="114395" y="334994"/>
                      </a:lnTo>
                      <a:lnTo>
                        <a:pt x="220885" y="174308"/>
                      </a:lnTo>
                      <a:close/>
                    </a:path>
                  </a:pathLst>
                </a:custGeom>
                <a:noFill/>
                <a:ln w="28575" cap="sq">
                  <a:solidFill>
                    <a:schemeClr val="accent1">
                      <a:lumMod val="50000"/>
                    </a:schemeClr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>
                <a:xfrm>
                  <a:off x="6145148" y="3382327"/>
                  <a:ext cx="120872" cy="54006"/>
                </a:xfrm>
                <a:custGeom>
                  <a:avLst/>
                  <a:gdLst>
                    <a:gd name="connsiteX0" fmla="*/ 120872 w 120872"/>
                    <a:gd name="connsiteY0" fmla="*/ 0 h 54006"/>
                    <a:gd name="connsiteX1" fmla="*/ 0 w 120872"/>
                    <a:gd name="connsiteY1" fmla="*/ 54007 h 54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" h="54006">
                      <a:moveTo>
                        <a:pt x="120872" y="0"/>
                      </a:moveTo>
                      <a:lnTo>
                        <a:pt x="0" y="54007"/>
                      </a:lnTo>
                    </a:path>
                  </a:pathLst>
                </a:custGeom>
                <a:ln w="28575" cap="sq">
                  <a:solidFill>
                    <a:schemeClr val="accent1">
                      <a:lumMod val="50000"/>
                    </a:schemeClr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1" name="任意多边形: 形状 30"/>
            <p:cNvSpPr/>
            <p:nvPr/>
          </p:nvSpPr>
          <p:spPr>
            <a:xfrm rot="20137285" flipH="1">
              <a:off x="6879157" y="4326453"/>
              <a:ext cx="6269073" cy="3323057"/>
            </a:xfrm>
            <a:custGeom>
              <a:avLst/>
              <a:gdLst>
                <a:gd name="connsiteX0" fmla="*/ 0 w 6269073"/>
                <a:gd name="connsiteY0" fmla="*/ 21976 h 3323057"/>
                <a:gd name="connsiteX1" fmla="*/ 1495949 w 6269073"/>
                <a:gd name="connsiteY1" fmla="*/ 3323056 h 3323057"/>
                <a:gd name="connsiteX2" fmla="*/ 1575864 w 6269073"/>
                <a:gd name="connsiteY2" fmla="*/ 3323057 h 3323057"/>
                <a:gd name="connsiteX3" fmla="*/ 6269073 w 6269073"/>
                <a:gd name="connsiteY3" fmla="*/ 1196237 h 3323057"/>
                <a:gd name="connsiteX4" fmla="*/ 6239877 w 6269073"/>
                <a:gd name="connsiteY4" fmla="*/ 1171982 h 3323057"/>
                <a:gd name="connsiteX5" fmla="*/ 5801606 w 6269073"/>
                <a:gd name="connsiteY5" fmla="*/ 959854 h 3323057"/>
                <a:gd name="connsiteX6" fmla="*/ 2288574 w 6269073"/>
                <a:gd name="connsiteY6" fmla="*/ 2144043 h 3323057"/>
                <a:gd name="connsiteX7" fmla="*/ 156880 w 6269073"/>
                <a:gd name="connsiteY7" fmla="*/ 3313 h 3323057"/>
                <a:gd name="connsiteX8" fmla="*/ 2019 w 6269073"/>
                <a:gd name="connsiteY8" fmla="*/ 21494 h 332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69073" h="3323057">
                  <a:moveTo>
                    <a:pt x="0" y="21976"/>
                  </a:moveTo>
                  <a:lnTo>
                    <a:pt x="1495949" y="3323056"/>
                  </a:lnTo>
                  <a:lnTo>
                    <a:pt x="1575864" y="3323057"/>
                  </a:lnTo>
                  <a:lnTo>
                    <a:pt x="6269073" y="1196237"/>
                  </a:lnTo>
                  <a:lnTo>
                    <a:pt x="6239877" y="1171982"/>
                  </a:lnTo>
                  <a:cubicBezTo>
                    <a:pt x="6111864" y="1081034"/>
                    <a:pt x="5966550" y="1008000"/>
                    <a:pt x="5801606" y="959854"/>
                  </a:cubicBezTo>
                  <a:cubicBezTo>
                    <a:pt x="4482049" y="574691"/>
                    <a:pt x="3611601" y="2258407"/>
                    <a:pt x="2288574" y="2144043"/>
                  </a:cubicBezTo>
                  <a:cubicBezTo>
                    <a:pt x="965549" y="2029682"/>
                    <a:pt x="1846411" y="-95081"/>
                    <a:pt x="156880" y="3313"/>
                  </a:cubicBezTo>
                  <a:cubicBezTo>
                    <a:pt x="104082" y="6388"/>
                    <a:pt x="52470" y="12513"/>
                    <a:pt x="2019" y="21494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 flipH="1">
              <a:off x="0" y="3915142"/>
              <a:ext cx="6096000" cy="2942858"/>
              <a:chOff x="4814887" y="2809970"/>
              <a:chExt cx="2565177" cy="1238345"/>
            </a:xfrm>
          </p:grpSpPr>
          <p:sp>
            <p:nvSpPr>
              <p:cNvPr id="27" name="任意多边形: 形状 26"/>
              <p:cNvSpPr/>
              <p:nvPr/>
            </p:nvSpPr>
            <p:spPr>
              <a:xfrm>
                <a:off x="4814887" y="2809970"/>
                <a:ext cx="2565177" cy="1238345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zh-CN" altLang="en-US"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4814887" y="3078384"/>
                <a:ext cx="2565177" cy="969835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0077327" y="5386571"/>
              <a:ext cx="1039464" cy="1014568"/>
              <a:chOff x="6503479" y="2817685"/>
              <a:chExt cx="282320" cy="275558"/>
            </a:xfrm>
          </p:grpSpPr>
          <p:sp>
            <p:nvSpPr>
              <p:cNvPr id="22" name="任意多边形: 形状 21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 flipH="1">
              <a:off x="11071761" y="774793"/>
              <a:ext cx="560064" cy="560064"/>
              <a:chOff x="5405437" y="3902487"/>
              <a:chExt cx="152114" cy="152114"/>
            </a:xfrm>
          </p:grpSpPr>
          <p:sp>
            <p:nvSpPr>
              <p:cNvPr id="20" name="任意多边形: 形状 19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3056" y="1577033"/>
            <a:ext cx="8955789" cy="2075349"/>
          </a:xfrm>
        </p:spPr>
        <p:txBody>
          <a:bodyPr wrap="square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673056" y="3862500"/>
            <a:ext cx="8955789" cy="1077212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1" y="0"/>
            <a:ext cx="12214994" cy="6858002"/>
            <a:chOff x="1" y="0"/>
            <a:chExt cx="12214994" cy="6858002"/>
          </a:xfrm>
        </p:grpSpPr>
        <p:sp>
          <p:nvSpPr>
            <p:cNvPr id="28" name="任意多边形: 形状 27"/>
            <p:cNvSpPr/>
            <p:nvPr/>
          </p:nvSpPr>
          <p:spPr>
            <a:xfrm rot="10800000">
              <a:off x="6793301" y="1"/>
              <a:ext cx="2522886" cy="1466883"/>
            </a:xfrm>
            <a:custGeom>
              <a:avLst/>
              <a:gdLst>
                <a:gd name="connsiteX0" fmla="*/ -717 w 2522886"/>
                <a:gd name="connsiteY0" fmla="*/ 1466315 h 1466883"/>
                <a:gd name="connsiteX1" fmla="*/ 593548 w 2522886"/>
                <a:gd name="connsiteY1" fmla="*/ 894 h 1466883"/>
                <a:gd name="connsiteX2" fmla="*/ 1178573 w 2522886"/>
                <a:gd name="connsiteY2" fmla="*/ 945868 h 1466883"/>
                <a:gd name="connsiteX3" fmla="*/ 2142694 w 2522886"/>
                <a:gd name="connsiteY3" fmla="*/ 423136 h 1466883"/>
                <a:gd name="connsiteX4" fmla="*/ 2522170 w 2522886"/>
                <a:gd name="connsiteY4" fmla="*/ 1466315 h 146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2886" h="1466883">
                  <a:moveTo>
                    <a:pt x="-717" y="1466315"/>
                  </a:moveTo>
                  <a:cubicBezTo>
                    <a:pt x="-717" y="1466315"/>
                    <a:pt x="129871" y="44328"/>
                    <a:pt x="593548" y="894"/>
                  </a:cubicBezTo>
                  <a:cubicBezTo>
                    <a:pt x="1057225" y="-42540"/>
                    <a:pt x="815480" y="895386"/>
                    <a:pt x="1178573" y="945868"/>
                  </a:cubicBezTo>
                  <a:cubicBezTo>
                    <a:pt x="1541666" y="996351"/>
                    <a:pt x="1780553" y="253115"/>
                    <a:pt x="2142694" y="423136"/>
                  </a:cubicBezTo>
                  <a:cubicBezTo>
                    <a:pt x="2504835" y="593158"/>
                    <a:pt x="2522170" y="1466315"/>
                    <a:pt x="2522170" y="1466315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081287" y="3425289"/>
              <a:ext cx="7133708" cy="3432713"/>
              <a:chOff x="4814887" y="2809971"/>
              <a:chExt cx="2573472" cy="1238345"/>
            </a:xfrm>
          </p:grpSpPr>
          <p:sp>
            <p:nvSpPr>
              <p:cNvPr id="47" name="任意多边形: 形状 46"/>
              <p:cNvSpPr/>
              <p:nvPr/>
            </p:nvSpPr>
            <p:spPr>
              <a:xfrm>
                <a:off x="4823182" y="2809971"/>
                <a:ext cx="2565177" cy="1238345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4814887" y="3078384"/>
                <a:ext cx="2565177" cy="969835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0" name="任意多边形: 形状 29"/>
            <p:cNvSpPr/>
            <p:nvPr/>
          </p:nvSpPr>
          <p:spPr>
            <a:xfrm>
              <a:off x="1" y="190"/>
              <a:ext cx="2161002" cy="1411922"/>
            </a:xfrm>
            <a:custGeom>
              <a:avLst/>
              <a:gdLst>
                <a:gd name="connsiteX0" fmla="*/ 1268371 w 1517309"/>
                <a:gd name="connsiteY0" fmla="*/ 206732 h 991356"/>
                <a:gd name="connsiteX1" fmla="*/ 1316567 w 1517309"/>
                <a:gd name="connsiteY1" fmla="*/ -532 h 991356"/>
                <a:gd name="connsiteX2" fmla="*/ -73 w 1517309"/>
                <a:gd name="connsiteY2" fmla="*/ -532 h 991356"/>
                <a:gd name="connsiteX3" fmla="*/ -73 w 1517309"/>
                <a:gd name="connsiteY3" fmla="*/ 724321 h 991356"/>
                <a:gd name="connsiteX4" fmla="*/ 1268371 w 1517309"/>
                <a:gd name="connsiteY4" fmla="*/ 206732 h 99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7309" h="991356">
                  <a:moveTo>
                    <a:pt x="1268371" y="206732"/>
                  </a:moveTo>
                  <a:cubicBezTo>
                    <a:pt x="1184646" y="147581"/>
                    <a:pt x="1067584" y="114911"/>
                    <a:pt x="1316567" y="-532"/>
                  </a:cubicBezTo>
                  <a:lnTo>
                    <a:pt x="-73" y="-532"/>
                  </a:lnTo>
                  <a:lnTo>
                    <a:pt x="-73" y="724321"/>
                  </a:lnTo>
                  <a:cubicBezTo>
                    <a:pt x="466461" y="1315442"/>
                    <a:pt x="2143338" y="825095"/>
                    <a:pt x="1268371" y="206732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10039547" y="0"/>
              <a:ext cx="2152454" cy="3011248"/>
              <a:chOff x="1059441" y="0"/>
              <a:chExt cx="1083969" cy="1516455"/>
            </a:xfrm>
          </p:grpSpPr>
          <p:sp>
            <p:nvSpPr>
              <p:cNvPr id="45" name="任意多边形: 形状 44"/>
              <p:cNvSpPr/>
              <p:nvPr/>
            </p:nvSpPr>
            <p:spPr>
              <a:xfrm>
                <a:off x="1601395" y="0"/>
                <a:ext cx="542015" cy="1108305"/>
              </a:xfrm>
              <a:custGeom>
                <a:avLst/>
                <a:gdLst>
                  <a:gd name="connsiteX0" fmla="*/ 334487 w 542015"/>
                  <a:gd name="connsiteY0" fmla="*/ 1058076 h 1108305"/>
                  <a:gd name="connsiteX1" fmla="*/ 541942 w 542015"/>
                  <a:gd name="connsiteY1" fmla="*/ 991401 h 1108305"/>
                  <a:gd name="connsiteX2" fmla="*/ 541942 w 542015"/>
                  <a:gd name="connsiteY2" fmla="*/ -532 h 1108305"/>
                  <a:gd name="connsiteX3" fmla="*/ 463741 w 542015"/>
                  <a:gd name="connsiteY3" fmla="*/ -532 h 1108305"/>
                  <a:gd name="connsiteX4" fmla="*/ 334487 w 542015"/>
                  <a:gd name="connsiteY4" fmla="*/ 1058076 h 110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2015" h="1108305">
                    <a:moveTo>
                      <a:pt x="334487" y="1058076"/>
                    </a:moveTo>
                    <a:cubicBezTo>
                      <a:pt x="400705" y="1027587"/>
                      <a:pt x="470361" y="1005204"/>
                      <a:pt x="541942" y="991401"/>
                    </a:cubicBezTo>
                    <a:lnTo>
                      <a:pt x="541942" y="-532"/>
                    </a:lnTo>
                    <a:lnTo>
                      <a:pt x="463741" y="-532"/>
                    </a:lnTo>
                    <a:cubicBezTo>
                      <a:pt x="21591" y="466003"/>
                      <a:pt x="-250253" y="1322777"/>
                      <a:pt x="334487" y="1058076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1059441" y="648461"/>
                <a:ext cx="1083969" cy="867994"/>
              </a:xfrm>
              <a:custGeom>
                <a:avLst/>
                <a:gdLst>
                  <a:gd name="connsiteX0" fmla="*/ 669083 w 1083969"/>
                  <a:gd name="connsiteY0" fmla="*/ 828524 h 867994"/>
                  <a:gd name="connsiteX1" fmla="*/ 1083896 w 1083969"/>
                  <a:gd name="connsiteY1" fmla="*/ 776231 h 867994"/>
                  <a:gd name="connsiteX2" fmla="*/ 1083896 w 1083969"/>
                  <a:gd name="connsiteY2" fmla="*/ -532 h 867994"/>
                  <a:gd name="connsiteX3" fmla="*/ 927496 w 1083969"/>
                  <a:gd name="connsiteY3" fmla="*/ -532 h 867994"/>
                  <a:gd name="connsiteX4" fmla="*/ 669083 w 1083969"/>
                  <a:gd name="connsiteY4" fmla="*/ 828524 h 86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3969" h="867994">
                    <a:moveTo>
                      <a:pt x="669083" y="828524"/>
                    </a:moveTo>
                    <a:cubicBezTo>
                      <a:pt x="806376" y="804035"/>
                      <a:pt x="944822" y="786576"/>
                      <a:pt x="1083896" y="776231"/>
                    </a:cubicBezTo>
                    <a:lnTo>
                      <a:pt x="1083896" y="-532"/>
                    </a:lnTo>
                    <a:lnTo>
                      <a:pt x="927496" y="-532"/>
                    </a:lnTo>
                    <a:cubicBezTo>
                      <a:pt x="43195" y="364847"/>
                      <a:pt x="-500397" y="1035883"/>
                      <a:pt x="669083" y="828524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9275847" y="2420102"/>
              <a:ext cx="1039464" cy="1014568"/>
              <a:chOff x="6503479" y="2817685"/>
              <a:chExt cx="282320" cy="275558"/>
            </a:xfrm>
          </p:grpSpPr>
          <p:sp>
            <p:nvSpPr>
              <p:cNvPr id="42" name="任意多边形: 形状 41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3" name="任意多边形: 形状 32"/>
            <p:cNvSpPr/>
            <p:nvPr/>
          </p:nvSpPr>
          <p:spPr>
            <a:xfrm rot="18900000">
              <a:off x="7676232" y="4652058"/>
              <a:ext cx="395938" cy="395930"/>
            </a:xfrm>
            <a:custGeom>
              <a:avLst/>
              <a:gdLst>
                <a:gd name="connsiteX0" fmla="*/ 209 w 107537"/>
                <a:gd name="connsiteY0" fmla="*/ -602 h 107537"/>
                <a:gd name="connsiteX1" fmla="*/ 107747 w 107537"/>
                <a:gd name="connsiteY1" fmla="*/ -602 h 107537"/>
                <a:gd name="connsiteX2" fmla="*/ 107747 w 107537"/>
                <a:gd name="connsiteY2" fmla="*/ 106935 h 107537"/>
                <a:gd name="connsiteX3" fmla="*/ 209 w 107537"/>
                <a:gd name="connsiteY3" fmla="*/ 106935 h 107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37" h="107537">
                  <a:moveTo>
                    <a:pt x="209" y="-602"/>
                  </a:moveTo>
                  <a:lnTo>
                    <a:pt x="107747" y="-602"/>
                  </a:lnTo>
                  <a:lnTo>
                    <a:pt x="107747" y="106935"/>
                  </a:lnTo>
                  <a:lnTo>
                    <a:pt x="209" y="106935"/>
                  </a:lnTo>
                  <a:close/>
                </a:path>
              </a:pathLst>
            </a:custGeom>
            <a:noFill/>
            <a:ln w="28575" cap="sq">
              <a:solidFill>
                <a:schemeClr val="accent1">
                  <a:lumMod val="50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679273" y="5680695"/>
              <a:ext cx="560064" cy="560064"/>
              <a:chOff x="5405437" y="3902487"/>
              <a:chExt cx="152114" cy="152114"/>
            </a:xfrm>
          </p:grpSpPr>
          <p:sp>
            <p:nvSpPr>
              <p:cNvPr id="40" name="任意多边形: 形状 39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560176" y="1055015"/>
              <a:ext cx="679159" cy="665717"/>
              <a:chOff x="5924263" y="3262026"/>
              <a:chExt cx="341757" cy="334994"/>
            </a:xfrm>
          </p:grpSpPr>
          <p:sp>
            <p:nvSpPr>
              <p:cNvPr id="37" name="任意多边形: 形状 36"/>
              <p:cNvSpPr/>
              <p:nvPr/>
            </p:nvSpPr>
            <p:spPr>
              <a:xfrm>
                <a:off x="5924263" y="3262026"/>
                <a:ext cx="341756" cy="334994"/>
              </a:xfrm>
              <a:custGeom>
                <a:avLst/>
                <a:gdLst>
                  <a:gd name="connsiteX0" fmla="*/ 341757 w 341756"/>
                  <a:gd name="connsiteY0" fmla="*/ 120301 h 334994"/>
                  <a:gd name="connsiteX1" fmla="*/ 0 w 341756"/>
                  <a:gd name="connsiteY1" fmla="*/ 0 h 334994"/>
                  <a:gd name="connsiteX2" fmla="*/ 114395 w 341756"/>
                  <a:gd name="connsiteY2" fmla="*/ 334994 h 334994"/>
                  <a:gd name="connsiteX3" fmla="*/ 341757 w 341756"/>
                  <a:gd name="connsiteY3" fmla="*/ 120301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756" h="334994">
                    <a:moveTo>
                      <a:pt x="341757" y="120301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341757" y="120301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5924263" y="3262026"/>
                <a:ext cx="220884" cy="334994"/>
              </a:xfrm>
              <a:custGeom>
                <a:avLst/>
                <a:gdLst>
                  <a:gd name="connsiteX0" fmla="*/ 220885 w 220884"/>
                  <a:gd name="connsiteY0" fmla="*/ 174308 h 334994"/>
                  <a:gd name="connsiteX1" fmla="*/ 0 w 220884"/>
                  <a:gd name="connsiteY1" fmla="*/ 0 h 334994"/>
                  <a:gd name="connsiteX2" fmla="*/ 114395 w 220884"/>
                  <a:gd name="connsiteY2" fmla="*/ 334994 h 334994"/>
                  <a:gd name="connsiteX3" fmla="*/ 220885 w 220884"/>
                  <a:gd name="connsiteY3" fmla="*/ 174308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884" h="334994">
                    <a:moveTo>
                      <a:pt x="220885" y="174308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220885" y="174308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6145148" y="3382327"/>
                <a:ext cx="120872" cy="54006"/>
              </a:xfrm>
              <a:custGeom>
                <a:avLst/>
                <a:gdLst>
                  <a:gd name="connsiteX0" fmla="*/ 120872 w 120872"/>
                  <a:gd name="connsiteY0" fmla="*/ 0 h 54006"/>
                  <a:gd name="connsiteX1" fmla="*/ 0 w 120872"/>
                  <a:gd name="connsiteY1" fmla="*/ 54007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872" h="54006">
                    <a:moveTo>
                      <a:pt x="120872" y="0"/>
                    </a:moveTo>
                    <a:lnTo>
                      <a:pt x="0" y="54007"/>
                    </a:lnTo>
                  </a:path>
                </a:pathLst>
              </a:custGeom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95828" y="1567968"/>
            <a:ext cx="6515100" cy="2092825"/>
          </a:xfrm>
        </p:spPr>
        <p:txBody>
          <a:bodyPr wrap="square" anchor="b" anchorCtr="0">
            <a:normAutofit/>
          </a:bodyPr>
          <a:lstStyle>
            <a:lvl1pPr algn="l">
              <a:tabLst>
                <a:tab pos="4746625" algn="l"/>
              </a:tabLst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095828" y="4297757"/>
            <a:ext cx="6515100" cy="403083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1095828" y="4700840"/>
            <a:ext cx="6515100" cy="403083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363861" y="633107"/>
            <a:ext cx="11828140" cy="6224893"/>
            <a:chOff x="363861" y="633107"/>
            <a:chExt cx="11828140" cy="6224893"/>
          </a:xfrm>
        </p:grpSpPr>
        <p:grpSp>
          <p:nvGrpSpPr>
            <p:cNvPr id="22" name="组合 21"/>
            <p:cNvGrpSpPr/>
            <p:nvPr/>
          </p:nvGrpSpPr>
          <p:grpSpPr>
            <a:xfrm>
              <a:off x="9027886" y="5330516"/>
              <a:ext cx="3164115" cy="1527484"/>
              <a:chOff x="5081287" y="3425287"/>
              <a:chExt cx="7110714" cy="3432713"/>
            </a:xfrm>
          </p:grpSpPr>
          <p:sp>
            <p:nvSpPr>
              <p:cNvPr id="20" name="任意多边形: 形状 19"/>
              <p:cNvSpPr/>
              <p:nvPr/>
            </p:nvSpPr>
            <p:spPr>
              <a:xfrm>
                <a:off x="5081287" y="3425287"/>
                <a:ext cx="7110714" cy="3432713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081287" y="4169335"/>
                <a:ext cx="7110714" cy="2688399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63861" y="633107"/>
              <a:ext cx="267964" cy="267964"/>
              <a:chOff x="5405437" y="3902487"/>
              <a:chExt cx="152114" cy="152114"/>
            </a:xfrm>
          </p:grpSpPr>
          <p:sp>
            <p:nvSpPr>
              <p:cNvPr id="12" name="任意多边形: 形状 11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505479"/>
            <a:ext cx="10858500" cy="52322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363861" y="633107"/>
            <a:ext cx="11828140" cy="6224893"/>
            <a:chOff x="363861" y="633107"/>
            <a:chExt cx="11828140" cy="6224893"/>
          </a:xfrm>
        </p:grpSpPr>
        <p:grpSp>
          <p:nvGrpSpPr>
            <p:cNvPr id="22" name="组合 21"/>
            <p:cNvGrpSpPr/>
            <p:nvPr/>
          </p:nvGrpSpPr>
          <p:grpSpPr>
            <a:xfrm>
              <a:off x="9027886" y="5330516"/>
              <a:ext cx="3164115" cy="1527484"/>
              <a:chOff x="5081287" y="3425287"/>
              <a:chExt cx="7110714" cy="3432713"/>
            </a:xfrm>
          </p:grpSpPr>
          <p:sp>
            <p:nvSpPr>
              <p:cNvPr id="20" name="任意多边形: 形状 19"/>
              <p:cNvSpPr/>
              <p:nvPr/>
            </p:nvSpPr>
            <p:spPr>
              <a:xfrm>
                <a:off x="5081287" y="3425287"/>
                <a:ext cx="7110714" cy="3432713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081287" y="4169335"/>
                <a:ext cx="7110714" cy="2688399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63861" y="633107"/>
              <a:ext cx="267964" cy="267964"/>
              <a:chOff x="5405437" y="3902487"/>
              <a:chExt cx="152114" cy="152114"/>
            </a:xfrm>
          </p:grpSpPr>
          <p:sp>
            <p:nvSpPr>
              <p:cNvPr id="12" name="任意多边形: 形状 11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505479"/>
            <a:ext cx="10858500" cy="52322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0.pn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5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4" Type="http://schemas.openxmlformats.org/officeDocument/2006/relationships/image" Target="../media/image9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83179" y="153270"/>
            <a:ext cx="6489540" cy="2579605"/>
          </a:xfrm>
        </p:spPr>
        <p:txBody>
          <a:bodyPr/>
          <a:lstStyle/>
          <a:p>
            <a:r>
              <a:rPr lang="en-US" dirty="0" err="1"/>
              <a:t>Minicase</a:t>
            </a:r>
            <a:r>
              <a:rPr lang="en-US" dirty="0"/>
              <a:t> 13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3283" y="2732875"/>
            <a:ext cx="6489540" cy="872982"/>
          </a:xfrm>
        </p:spPr>
        <p:txBody>
          <a:bodyPr/>
          <a:lstStyle/>
          <a:p>
            <a:r>
              <a:rPr lang="en-US" dirty="0"/>
              <a:t>Group 13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283179" y="4071665"/>
            <a:ext cx="5877156" cy="2510762"/>
          </a:xfrm>
        </p:spPr>
        <p:txBody>
          <a:bodyPr>
            <a:normAutofit/>
          </a:bodyPr>
          <a:lstStyle/>
          <a:p>
            <a:r>
              <a:rPr lang="en-US" dirty="0"/>
              <a:t>YE Chen 2430026255</a:t>
            </a:r>
          </a:p>
          <a:p>
            <a:r>
              <a:rPr lang="en-US" altLang="zh-CN" dirty="0"/>
              <a:t>Liu </a:t>
            </a:r>
            <a:r>
              <a:rPr lang="en-US" altLang="zh-CN" dirty="0" err="1"/>
              <a:t>Fangbing</a:t>
            </a:r>
            <a:r>
              <a:rPr lang="en-US" altLang="zh-CN" dirty="0"/>
              <a:t> 2430026126</a:t>
            </a:r>
          </a:p>
          <a:p>
            <a:r>
              <a:rPr lang="en-US" altLang="zh-CN" dirty="0" err="1"/>
              <a:t>WangZhengyang</a:t>
            </a:r>
            <a:r>
              <a:rPr lang="en-US" altLang="zh-CN" dirty="0"/>
              <a:t> 2330031281</a:t>
            </a:r>
          </a:p>
          <a:p>
            <a:r>
              <a:rPr lang="en-US" altLang="zh-CN" dirty="0"/>
              <a:t>WANG</a:t>
            </a:r>
            <a:r>
              <a:rPr lang="zh-CN" altLang="en-US" dirty="0"/>
              <a:t> </a:t>
            </a:r>
            <a:r>
              <a:rPr lang="en-US" altLang="zh-CN" dirty="0"/>
              <a:t>Jingyi</a:t>
            </a:r>
            <a:r>
              <a:rPr lang="zh-CN" altLang="en-US" dirty="0"/>
              <a:t> </a:t>
            </a:r>
            <a:r>
              <a:rPr lang="en-US" altLang="zh-CN" dirty="0"/>
              <a:t>2430026191</a:t>
            </a:r>
          </a:p>
          <a:p>
            <a:r>
              <a:rPr lang="en-US" altLang="zh-CN" dirty="0"/>
              <a:t>WU Chunyu 2430026217</a:t>
            </a:r>
          </a:p>
          <a:p>
            <a:r>
              <a:rPr lang="en-US" altLang="zh-CN" dirty="0"/>
              <a:t>Li </a:t>
            </a:r>
            <a:r>
              <a:rPr lang="en-US" altLang="zh-CN" dirty="0" err="1"/>
              <a:t>Dazheng</a:t>
            </a:r>
            <a:r>
              <a:rPr lang="en-US" altLang="zh-CN" dirty="0"/>
              <a:t> 2230005026</a:t>
            </a:r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Data Overview  </a:t>
            </a:r>
          </a:p>
        </p:txBody>
      </p:sp>
      <p:sp>
        <p:nvSpPr>
          <p:cNvPr id="10" name="箭头: 下 9"/>
          <p:cNvSpPr/>
          <p:nvPr/>
        </p:nvSpPr>
        <p:spPr>
          <a:xfrm rot="16200000">
            <a:off x="8697139" y="2514859"/>
            <a:ext cx="333955" cy="19927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68674" y="2996323"/>
            <a:ext cx="1319916" cy="371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Predict</a:t>
            </a:r>
            <a:endParaRPr lang="zh-CN" alt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3925574" y="1225291"/>
            <a:ext cx="1946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X1 – Market</a:t>
            </a:r>
          </a:p>
          <a:p>
            <a:r>
              <a:rPr lang="en-US" altLang="zh-CN" dirty="0"/>
              <a:t>captures overall market return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989540" y="2415854"/>
            <a:ext cx="1903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X2-SMB</a:t>
            </a:r>
          </a:p>
          <a:p>
            <a:r>
              <a:rPr lang="en-US" altLang="zh-CN" dirty="0"/>
              <a:t>return of small vs big firms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925574" y="3678227"/>
            <a:ext cx="1967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X3 – HML</a:t>
            </a:r>
          </a:p>
          <a:p>
            <a:r>
              <a:rPr lang="en-US" altLang="zh-CN" dirty="0"/>
              <a:t>value vs growth return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3925574" y="5001491"/>
            <a:ext cx="1967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X4 – RMW</a:t>
            </a:r>
          </a:p>
          <a:p>
            <a:r>
              <a:rPr lang="en-US" altLang="zh-CN" dirty="0"/>
              <a:t>profitability premium factor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5872320" y="2228671"/>
            <a:ext cx="24019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X5 – CMA</a:t>
            </a:r>
          </a:p>
          <a:p>
            <a:r>
              <a:rPr lang="en-US" altLang="zh-CN" dirty="0"/>
              <a:t>conservative vs aggressive investment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5893496" y="3810000"/>
            <a:ext cx="1992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X6 – rf rate</a:t>
            </a:r>
          </a:p>
          <a:p>
            <a:r>
              <a:rPr lang="en-US" altLang="zh-CN" dirty="0"/>
              <a:t>risk-free benchmark rate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9989538" y="2826788"/>
            <a:ext cx="1747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Y-Portfolio F</a:t>
            </a:r>
          </a:p>
          <a:p>
            <a:r>
              <a:rPr lang="en-US" altLang="zh-CN" dirty="0"/>
              <a:t>monthly return of portfolio</a:t>
            </a:r>
            <a:endParaRPr lang="zh-CN" altLang="en-US" dirty="0"/>
          </a:p>
        </p:txBody>
      </p:sp>
      <p:pic>
        <p:nvPicPr>
          <p:cNvPr id="20" name="图片 19" descr="表格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20" y="218412"/>
            <a:ext cx="4493327" cy="1393003"/>
          </a:xfrm>
          <a:prstGeom prst="rect">
            <a:avLst/>
          </a:prstGeom>
        </p:spPr>
      </p:pic>
      <p:pic>
        <p:nvPicPr>
          <p:cNvPr id="22" name="图片 21" descr="表格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271" y="218411"/>
            <a:ext cx="1041162" cy="1393003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359040" y="5001491"/>
            <a:ext cx="461584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There are </a:t>
            </a:r>
            <a:r>
              <a:rPr lang="en-US" altLang="zh-CN" sz="2400" b="1" dirty="0">
                <a:solidFill>
                  <a:srgbClr val="C00000"/>
                </a:solidFill>
              </a:rPr>
              <a:t>492 observations in total</a:t>
            </a:r>
            <a:r>
              <a:rPr lang="en-US" altLang="zh-CN" sz="2400" dirty="0"/>
              <a:t>, and we use the </a:t>
            </a:r>
            <a:r>
              <a:rPr lang="en-US" altLang="zh-CN" sz="2400" b="1" dirty="0">
                <a:solidFill>
                  <a:srgbClr val="C00000"/>
                </a:solidFill>
              </a:rPr>
              <a:t>seven variables shown above</a:t>
            </a:r>
            <a:r>
              <a:rPr lang="en-US" altLang="zh-CN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/>
              <a:t>to conduct the correlation analysis.</a:t>
            </a:r>
          </a:p>
          <a:p>
            <a:endParaRPr lang="zh-CN" altLang="en-US" dirty="0"/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B45F7513-8D80-E6C2-82A7-4F16F9EE4441}"/>
              </a:ext>
            </a:extLst>
          </p:cNvPr>
          <p:cNvSpPr txBox="1">
            <a:spLocks/>
          </p:cNvSpPr>
          <p:nvPr/>
        </p:nvSpPr>
        <p:spPr>
          <a:xfrm>
            <a:off x="1239337" y="4954751"/>
            <a:ext cx="5877156" cy="10827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Ye Chen</a:t>
            </a:r>
            <a:endParaRPr lang="en-US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2430026255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4" grpId="0"/>
      <p:bldP spid="15" grpId="0"/>
      <p:bldP spid="16" grpId="0"/>
      <p:bldP spid="17" grpId="0"/>
      <p:bldP spid="18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Analysis Method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CN" b="1" dirty="0"/>
                  <a:t>Fit regression models →</a:t>
                </a:r>
                <a:r>
                  <a:rPr lang="en-US" altLang="zh-CN" dirty="0"/>
                  <a:t> We first fit simple OLS regression lines to describe the linear relationship between the response and each explanatory variable.</a:t>
                </a:r>
              </a:p>
              <a:p>
                <a:r>
                  <a:rPr lang="en-US" altLang="zh-CN" b="1" dirty="0"/>
                  <a:t>Compute p-values →</a:t>
                </a:r>
                <a:r>
                  <a:rPr lang="en-US" altLang="zh-CN" dirty="0"/>
                  <a:t> We perform t-tests on the slope coefficients to determine whether each factor has a statistically significant effect.</a:t>
                </a:r>
              </a:p>
              <a:p>
                <a:r>
                  <a:rPr lang="en-US" altLang="zh-CN" b="1" dirty="0"/>
                  <a:t>Compare model fit →</a:t>
                </a:r>
                <a:r>
                  <a:rPr lang="en-US" altLang="zh-CN" dirty="0"/>
                  <a:t> We compare goodness-of-fit measures (e.g., correlation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altLang="zh-CN" dirty="0"/>
                  <a:t>) </a:t>
                </a:r>
                <a:r>
                  <a:rPr lang="en-US" altLang="zh-CN" dirty="0"/>
                  <a:t>to identify the model with stronger explanatory power.</a:t>
                </a:r>
              </a:p>
              <a:p>
                <a:r>
                  <a:rPr lang="en-US" altLang="zh-CN" b="1" dirty="0"/>
                  <a:t>Construct 95% t-intervals →</a:t>
                </a:r>
                <a:r>
                  <a:rPr lang="en-US" altLang="zh-CN" dirty="0"/>
                  <a:t> Using the selected model, we compute 95% confidence intervals based on the t-distribution for statistical inference and prediction.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6" t="-7" r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占位符 3">
            <a:extLst>
              <a:ext uri="{FF2B5EF4-FFF2-40B4-BE49-F238E27FC236}">
                <a16:creationId xmlns:a16="http://schemas.microsoft.com/office/drawing/2014/main" id="{F6919869-DFDE-0973-580C-4F117BD5BC3E}"/>
              </a:ext>
            </a:extLst>
          </p:cNvPr>
          <p:cNvSpPr txBox="1">
            <a:spLocks/>
          </p:cNvSpPr>
          <p:nvPr/>
        </p:nvSpPr>
        <p:spPr>
          <a:xfrm>
            <a:off x="10478023" y="5987441"/>
            <a:ext cx="1619204" cy="70506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Ye Chen</a:t>
            </a:r>
            <a:endParaRPr lang="en-US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2430026255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9337" y="679014"/>
            <a:ext cx="6489540" cy="2579605"/>
          </a:xfrm>
        </p:spPr>
        <p:txBody>
          <a:bodyPr/>
          <a:lstStyle/>
          <a:p>
            <a:r>
              <a:rPr lang="en-US" altLang="zh-CN" dirty="0"/>
              <a:t>Problem 1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/>
        <p:txBody>
          <a:bodyPr/>
          <a:lstStyle/>
          <a:p>
            <a:r>
              <a:rPr lang="en-US" dirty="0"/>
              <a:t>Comparison of Simple Regression models:</a:t>
            </a:r>
          </a:p>
          <a:p>
            <a:r>
              <a:rPr lang="en-US" dirty="0"/>
              <a:t>x1(Market) VS. x2(SMB)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239337" y="4954751"/>
            <a:ext cx="5877156" cy="1082794"/>
          </a:xfrm>
        </p:spPr>
        <p:txBody>
          <a:bodyPr>
            <a:normAutofit/>
          </a:bodyPr>
          <a:lstStyle/>
          <a:p>
            <a:r>
              <a:rPr lang="en-US" altLang="zh-CN" sz="1600" b="1" dirty="0"/>
              <a:t>Ye Chen</a:t>
            </a:r>
            <a:endParaRPr lang="en-US" sz="1600" b="1" dirty="0"/>
          </a:p>
          <a:p>
            <a:r>
              <a:rPr lang="en-US" sz="1600" b="1" dirty="0"/>
              <a:t>2430026255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82044" y="144049"/>
            <a:ext cx="6171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Problem 1 Question Background</a:t>
            </a:r>
            <a:endParaRPr lang="zh-CN" altLang="en-US" sz="2800" b="1" dirty="0"/>
          </a:p>
          <a:p>
            <a:endParaRPr lang="zh-CN" altLang="en-US" sz="2800" b="1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061" y="5203714"/>
            <a:ext cx="9807879" cy="1338661"/>
          </a:xfrm>
          <a:prstGeom prst="rect">
            <a:avLst/>
          </a:prstGeom>
        </p:spPr>
      </p:pic>
      <p:pic>
        <p:nvPicPr>
          <p:cNvPr id="7" name="图形 6" descr="贷款 纯色填充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2615" y="984955"/>
            <a:ext cx="1390095" cy="1390095"/>
          </a:xfrm>
          <a:prstGeom prst="rect">
            <a:avLst/>
          </a:prstGeom>
        </p:spPr>
      </p:pic>
      <p:pic>
        <p:nvPicPr>
          <p:cNvPr id="13" name="图形 12" descr="税 纯色填充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1266" y="984955"/>
            <a:ext cx="1324734" cy="1324734"/>
          </a:xfrm>
          <a:prstGeom prst="rect">
            <a:avLst/>
          </a:prstGeom>
        </p:spPr>
      </p:pic>
      <p:pic>
        <p:nvPicPr>
          <p:cNvPr id="15" name="图形 14" descr="下降趋势图 纯色填充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1608" y="827896"/>
            <a:ext cx="1696501" cy="169650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496291" y="2339731"/>
            <a:ext cx="2137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X1 – Market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890655" y="2339731"/>
            <a:ext cx="148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X2 – SMB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8383979" y="2375050"/>
            <a:ext cx="1968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Y – </a:t>
            </a:r>
            <a:r>
              <a:rPr lang="en-US" altLang="zh-CN" b="1" dirty="0" err="1"/>
              <a:t>Protfolio.F</a:t>
            </a:r>
            <a:endParaRPr lang="zh-CN" altLang="en-US" b="1" dirty="0"/>
          </a:p>
        </p:txBody>
      </p:sp>
      <p:sp>
        <p:nvSpPr>
          <p:cNvPr id="24" name="箭头: 下 23"/>
          <p:cNvSpPr/>
          <p:nvPr/>
        </p:nvSpPr>
        <p:spPr>
          <a:xfrm>
            <a:off x="2113808" y="2980706"/>
            <a:ext cx="201880" cy="36933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下 24"/>
          <p:cNvSpPr/>
          <p:nvPr/>
        </p:nvSpPr>
        <p:spPr>
          <a:xfrm>
            <a:off x="5427023" y="2980706"/>
            <a:ext cx="201880" cy="36933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1465" y="2987242"/>
            <a:ext cx="237765" cy="39017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688769" y="3387388"/>
            <a:ext cx="34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captures overall market return</a:t>
            </a:r>
            <a:endParaRPr lang="zh-CN" altLang="en-US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4355085" y="3382248"/>
            <a:ext cx="34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return of small vs big firms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7836914" y="3350038"/>
            <a:ext cx="2885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value vs growth return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1064061" y="4144488"/>
            <a:ext cx="9350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Market.x1 and SMB.x2 show relatively </a:t>
            </a:r>
            <a:r>
              <a:rPr lang="en-US" altLang="zh-CN" dirty="0">
                <a:solidFill>
                  <a:srgbClr val="0070C0"/>
                </a:solidFill>
              </a:rPr>
              <a:t>small average returns </a:t>
            </a:r>
            <a:r>
              <a:rPr lang="en-US" altLang="zh-CN" dirty="0"/>
              <a:t>with </a:t>
            </a:r>
            <a:r>
              <a:rPr lang="en-US" altLang="zh-CN" dirty="0">
                <a:solidFill>
                  <a:srgbClr val="0070C0"/>
                </a:solidFill>
              </a:rPr>
              <a:t>moderate volatility</a:t>
            </a:r>
            <a:r>
              <a:rPr lang="en-US" altLang="zh-CN" dirty="0"/>
              <a:t>, while </a:t>
            </a:r>
            <a:r>
              <a:rPr lang="en-US" altLang="zh-CN" dirty="0" err="1"/>
              <a:t>Portfolio.F</a:t>
            </a:r>
            <a:r>
              <a:rPr lang="en-US" altLang="zh-CN" dirty="0"/>
              <a:t> exhibits a </a:t>
            </a:r>
            <a:r>
              <a:rPr lang="en-US" altLang="zh-CN" dirty="0">
                <a:solidFill>
                  <a:srgbClr val="0070C0"/>
                </a:solidFill>
              </a:rPr>
              <a:t>higher mean </a:t>
            </a:r>
            <a:r>
              <a:rPr lang="en-US" altLang="zh-CN" dirty="0"/>
              <a:t>but also substantially </a:t>
            </a:r>
            <a:r>
              <a:rPr lang="en-US" altLang="zh-CN" dirty="0">
                <a:solidFill>
                  <a:srgbClr val="0070C0"/>
                </a:solidFill>
              </a:rPr>
              <a:t>larger standard deviation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04A2205C-A23A-9619-1748-83F4DB9FFB1C}"/>
              </a:ext>
            </a:extLst>
          </p:cNvPr>
          <p:cNvSpPr txBox="1">
            <a:spLocks/>
          </p:cNvSpPr>
          <p:nvPr/>
        </p:nvSpPr>
        <p:spPr>
          <a:xfrm>
            <a:off x="10871940" y="5971281"/>
            <a:ext cx="2186532" cy="114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Ye Chen</a:t>
            </a:r>
            <a:endParaRPr lang="en-US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2430026255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4" grpId="0" animBg="1"/>
      <p:bldP spid="25" grpId="0" animBg="1"/>
      <p:bldP spid="29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92483"/>
            <a:ext cx="10858500" cy="461665"/>
          </a:xfrm>
        </p:spPr>
        <p:txBody>
          <a:bodyPr/>
          <a:lstStyle/>
          <a:p>
            <a:r>
              <a:rPr lang="en-US" sz="2400" dirty="0"/>
              <a:t>Problem1(a)-Fitted Regression Models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Method</a:t>
            </a:r>
            <a:endParaRPr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66750" y="1807611"/>
                <a:ext cx="5727874" cy="3563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We fit two simple OLS regressions: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𝑚𝑖𝑛𝑖𝑚𝑖𝑧𝑒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OLS estimates: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So the fitted lines are:</a:t>
                </a:r>
              </a:p>
              <a:p>
                <a:r>
                  <a:rPr lang="en-US" altLang="zh-CN" dirty="0"/>
                  <a:t>Model 1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 b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</a:rPr>
                  <a:t>Market.x1 </a:t>
                </a:r>
                <a:r>
                  <a:rPr lang="en-US" altLang="zh-CN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ar-AE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8942</m:t>
                      </m:r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0671</m:t>
                      </m:r>
                      <m:r>
                        <m:rPr>
                          <m:nor/>
                        </m:rPr>
                        <a:rPr lang="ar-AE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 </m:t>
                      </m:r>
                      <m:sSub>
                        <m:sSub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CN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zh-CN" dirty="0">
                  <a:solidFill>
                    <a:srgbClr val="0070C0"/>
                  </a:solidFill>
                </a:endParaRPr>
              </a:p>
              <a:p>
                <a:r>
                  <a:rPr lang="en-US" altLang="zh-CN" dirty="0"/>
                  <a:t>Model 2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CN" b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</a:rPr>
                  <a:t>SMB.x2</a:t>
                </a:r>
                <a:r>
                  <a:rPr lang="en-US" altLang="zh-CN" dirty="0"/>
                  <a:t> 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ar-AE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9520</m:t>
                      </m:r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4818</m:t>
                      </m:r>
                      <m:r>
                        <m:rPr>
                          <m:nor/>
                        </m:rPr>
                        <a:rPr lang="ar-AE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 </m:t>
                      </m:r>
                      <m:sSub>
                        <m:sSub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CN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zh-CN" dirty="0">
                  <a:solidFill>
                    <a:srgbClr val="00B0F0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807611"/>
                <a:ext cx="5727874" cy="3563732"/>
              </a:xfrm>
              <a:prstGeom prst="rect">
                <a:avLst/>
              </a:prstGeom>
              <a:blipFill rotWithShape="1">
                <a:blip r:embed="rId2"/>
                <a:stretch>
                  <a:fillRect t="-11" r="3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766958" y="5483361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Conclusion</a:t>
            </a:r>
            <a:endParaRPr lang="zh-CN" altLang="en-US" sz="20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766958" y="5817812"/>
            <a:ext cx="99427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simple linear regressions yield </a:t>
            </a:r>
            <a:r>
              <a:rPr lang="en-US" altLang="zh-CN" dirty="0">
                <a:solidFill>
                  <a:srgbClr val="0070C0"/>
                </a:solidFill>
              </a:rPr>
              <a:t>positive fitted relationships </a:t>
            </a:r>
            <a:r>
              <a:rPr lang="en-US" altLang="zh-CN" dirty="0"/>
              <a:t>between </a:t>
            </a:r>
            <a:r>
              <a:rPr lang="en-US" altLang="zh-CN" dirty="0" err="1"/>
              <a:t>Portfolio.F</a:t>
            </a:r>
            <a:r>
              <a:rPr lang="en-US" altLang="zh-CN" dirty="0"/>
              <a:t> and both Market.x1 and SMB.x2, providing estimated regression lines that summarize how </a:t>
            </a:r>
            <a:r>
              <a:rPr lang="en-US" altLang="zh-CN" dirty="0" err="1"/>
              <a:t>Portfolio.F</a:t>
            </a:r>
            <a:r>
              <a:rPr lang="en-US" altLang="zh-CN" dirty="0"/>
              <a:t> changes on average with each factor.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142" y="3448950"/>
            <a:ext cx="6447827" cy="114218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567142" y="3152266"/>
            <a:ext cx="200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R Output</a:t>
            </a:r>
            <a:r>
              <a:rPr lang="en-US" altLang="zh-CN" b="1" dirty="0"/>
              <a:t>:</a:t>
            </a:r>
            <a:endParaRPr lang="zh-CN" altLang="en-US" b="1" dirty="0"/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EC80471B-2C83-00AF-F024-80986BAF5587}"/>
              </a:ext>
            </a:extLst>
          </p:cNvPr>
          <p:cNvSpPr txBox="1">
            <a:spLocks/>
          </p:cNvSpPr>
          <p:nvPr/>
        </p:nvSpPr>
        <p:spPr>
          <a:xfrm>
            <a:off x="10706097" y="5963679"/>
            <a:ext cx="2186532" cy="114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Ye Chen</a:t>
            </a:r>
            <a:endParaRPr lang="en-US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2430026255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Problem1(b) - Slope Significance Test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40002" y="1791953"/>
                <a:ext cx="7043020" cy="245868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ts val="2400"/>
                  </a:lnSpc>
                </a:pPr>
                <a:r>
                  <a:rPr lang="en-US" altLang="zh-CN" dirty="0"/>
                  <a:t>For each model, we estimate the slope </a:t>
                </a:r>
                <a:r>
                  <a:rPr lang="zh-CN" altLang="en-US" dirty="0"/>
                  <a:t>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and its standard error </a:t>
                </a:r>
                <a:r>
                  <a:rPr lang="zh-CN" altLang="en-US" dirty="0"/>
                  <a:t>𝑆𝐸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𝑏</a:t>
                </a:r>
                <a:r>
                  <a:rPr lang="en-US" altLang="zh-CN" dirty="0"/>
                  <a:t>1), then test: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: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: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490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lvl="0">
                  <a:lnSpc>
                    <a:spcPts val="2400"/>
                  </a:lnSpc>
                </a:pPr>
                <a:r>
                  <a:rPr lang="en-US" altLang="zh-CN" dirty="0"/>
                  <a:t>We conclude significance if 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𝑝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&lt;0.05</a:t>
                </a:r>
                <a:r>
                  <a:rPr lang="en-US" altLang="zh-CN" dirty="0"/>
                  <a:t>.</a:t>
                </a:r>
              </a:p>
              <a:p>
                <a:pPr lvl="0">
                  <a:lnSpc>
                    <a:spcPts val="2400"/>
                  </a:lnSpc>
                </a:pPr>
                <a:r>
                  <a:rPr lang="en-US" altLang="zh-CN" dirty="0"/>
                  <a:t>Market.x1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067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zh-CN" i="1">
                        <a:solidFill>
                          <a:srgbClr val="0070C0"/>
                        </a:solidFill>
                        <a:latin typeface="DejaVu Math TeX Gyre" panose="02000503000000000000" charset="0"/>
                      </a:rPr>
                      <m:t> </m:t>
                    </m:r>
                    <m:r>
                      <a:rPr lang="zh-CN" altLang="ar-AE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zh-CN" i="1">
                        <a:solidFill>
                          <a:srgbClr val="0070C0"/>
                        </a:solidFill>
                        <a:latin typeface="DejaVu Math TeX Gyre" panose="02000503000000000000" charset="0"/>
                      </a:rPr>
                      <m:t> </m:t>
                    </m:r>
                    <m:r>
                      <a:rPr lang="zh-CN" altLang="ar-AE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86</m:t>
                        </m:r>
                      </m:sup>
                    </m:sSup>
                    <m:r>
                      <a:rPr lang="ar-AE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  <a:p>
                <a:pPr lvl="0">
                  <a:lnSpc>
                    <a:spcPts val="2400"/>
                  </a:lnSpc>
                </a:pPr>
                <a:r>
                  <a:rPr lang="en-US" altLang="zh-CN" dirty="0"/>
                  <a:t>SMB.x2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482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zh-CN" i="1">
                        <a:solidFill>
                          <a:srgbClr val="0070C0"/>
                        </a:solidFill>
                        <a:latin typeface="DejaVu Math TeX Gyre" panose="02000503000000000000" charset="0"/>
                      </a:rPr>
                      <m:t> </m:t>
                    </m:r>
                    <m:r>
                      <a:rPr lang="zh-CN" altLang="ar-AE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08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zh-CN" i="1">
                        <a:solidFill>
                          <a:srgbClr val="0070C0"/>
                        </a:solidFill>
                        <a:latin typeface="DejaVu Math TeX Gyre" panose="02000503000000000000" charset="0"/>
                      </a:rPr>
                      <m:t> </m:t>
                    </m:r>
                    <m:r>
                      <a:rPr lang="zh-CN" altLang="ar-AE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92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sup>
                    </m:sSup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02" y="1791953"/>
                <a:ext cx="7043020" cy="2458686"/>
              </a:xfrm>
              <a:prstGeom prst="rect">
                <a:avLst/>
              </a:prstGeom>
              <a:blipFill rotWithShape="1">
                <a:blip r:embed="rId2"/>
                <a:stretch>
                  <a:fillRect l="-98" t="-283" r="-88" b="-23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656312" y="5747808"/>
                <a:ext cx="102246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altLang="zh-CN" dirty="0"/>
                  <a:t>Both slopes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are significant at the 5% level</a:t>
                </a:r>
                <a:r>
                  <a:rPr lang="en-US" altLang="zh-CN" dirty="0"/>
                  <a:t>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 is rejected for both models. It support that this is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significant positive linear relationship</a:t>
                </a:r>
                <a:r>
                  <a:rPr lang="en-US" altLang="zh-CN" dirty="0"/>
                  <a:t>.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12" y="5747808"/>
                <a:ext cx="10224631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3" t="-65" r="2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8224903" y="1975774"/>
            <a:ext cx="160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 Output:</a:t>
            </a:r>
            <a:endParaRPr lang="zh-CN" altLang="en-US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903" y="2455653"/>
            <a:ext cx="3137771" cy="89760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4903" y="3504746"/>
            <a:ext cx="2060532" cy="983079"/>
          </a:xfrm>
          <a:prstGeom prst="rect">
            <a:avLst/>
          </a:prstGeom>
        </p:spPr>
      </p:pic>
      <p:sp>
        <p:nvSpPr>
          <p:cNvPr id="14" name="箭头: 下 13"/>
          <p:cNvSpPr/>
          <p:nvPr/>
        </p:nvSpPr>
        <p:spPr>
          <a:xfrm>
            <a:off x="4741101" y="4991622"/>
            <a:ext cx="344466" cy="646331"/>
          </a:xfrm>
          <a:prstGeom prst="down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3">
            <a:extLst>
              <a:ext uri="{FF2B5EF4-FFF2-40B4-BE49-F238E27FC236}">
                <a16:creationId xmlns:a16="http://schemas.microsoft.com/office/drawing/2014/main" id="{D0B1D410-B8E4-90C1-D9AC-4468BA26EC1A}"/>
              </a:ext>
            </a:extLst>
          </p:cNvPr>
          <p:cNvSpPr txBox="1">
            <a:spLocks/>
          </p:cNvSpPr>
          <p:nvPr/>
        </p:nvSpPr>
        <p:spPr>
          <a:xfrm>
            <a:off x="10706097" y="5963679"/>
            <a:ext cx="2186532" cy="114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Ye Chen</a:t>
            </a:r>
            <a:endParaRPr lang="en-US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2430026255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60400" y="504825"/>
            <a:ext cx="10858500" cy="523875"/>
          </a:xfrm>
        </p:spPr>
        <p:txBody>
          <a:bodyPr/>
          <a:lstStyle/>
          <a:p>
            <a:r>
              <a:rPr lang="en-US" altLang="zh-CN" dirty="0"/>
              <a:t>Problem1(b) - Slope Significance Test</a:t>
            </a:r>
            <a:endParaRPr lang="en-US" dirty="0"/>
          </a:p>
        </p:txBody>
      </p:sp>
      <p:pic>
        <p:nvPicPr>
          <p:cNvPr id="5" name="图片 4" descr="图表, 散点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91" y="1564184"/>
            <a:ext cx="5011397" cy="2725980"/>
          </a:xfrm>
          <a:prstGeom prst="rect">
            <a:avLst/>
          </a:prstGeom>
        </p:spPr>
      </p:pic>
      <p:pic>
        <p:nvPicPr>
          <p:cNvPr id="7" name="图片 6" descr="图表, 散点图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02471"/>
            <a:ext cx="5272764" cy="268769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16550" y="4540195"/>
            <a:ext cx="9096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Both scatterplots show </a:t>
            </a:r>
            <a:r>
              <a:rPr lang="en-US" altLang="zh-CN" dirty="0">
                <a:solidFill>
                  <a:srgbClr val="0070C0"/>
                </a:solidFill>
              </a:rPr>
              <a:t>clear positive linear trends</a:t>
            </a:r>
            <a:r>
              <a:rPr lang="en-US" altLang="zh-CN" dirty="0"/>
              <a:t>, indicating that higher Market.x1 and SMB.x2 values are associated with higher </a:t>
            </a:r>
            <a:r>
              <a:rPr lang="en-US" altLang="zh-CN" dirty="0" err="1"/>
              <a:t>Portfolio.F</a:t>
            </a:r>
            <a:r>
              <a:rPr lang="en-US" altLang="zh-CN" dirty="0"/>
              <a:t> returns.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216550" y="5686816"/>
            <a:ext cx="9444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upward trends indicate that higher factor values are associated with higher </a:t>
            </a:r>
            <a:r>
              <a:rPr lang="en-US" altLang="zh-CN" dirty="0" err="1"/>
              <a:t>Portfolio.F</a:t>
            </a:r>
            <a:r>
              <a:rPr lang="en-US" altLang="zh-CN" dirty="0"/>
              <a:t> returns. And both slopes </a:t>
            </a:r>
            <a:r>
              <a:rPr lang="en-US" altLang="zh-CN" dirty="0">
                <a:solidFill>
                  <a:srgbClr val="0070C0"/>
                </a:solidFill>
              </a:rPr>
              <a:t>are significant at the 5% level, </a:t>
            </a:r>
            <a:r>
              <a:rPr lang="en-US" altLang="zh-CN" dirty="0"/>
              <a:t>all of this support that this is </a:t>
            </a:r>
            <a:r>
              <a:rPr lang="en-US" altLang="zh-CN" dirty="0">
                <a:solidFill>
                  <a:srgbClr val="0070C0"/>
                </a:solidFill>
              </a:rPr>
              <a:t>significant positive linear relationship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216550" y="5374417"/>
            <a:ext cx="1659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Conclusion</a:t>
            </a:r>
            <a:endParaRPr lang="zh-CN" altLang="en-US" b="1" dirty="0"/>
          </a:p>
        </p:txBody>
      </p:sp>
      <p:sp>
        <p:nvSpPr>
          <p:cNvPr id="11" name="箭头: 下 10"/>
          <p:cNvSpPr/>
          <p:nvPr/>
        </p:nvSpPr>
        <p:spPr>
          <a:xfrm>
            <a:off x="5041726" y="5186526"/>
            <a:ext cx="237995" cy="500290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35C920-2C10-5DAE-AFB2-4CFB5370E4C4}"/>
              </a:ext>
            </a:extLst>
          </p:cNvPr>
          <p:cNvSpPr txBox="1">
            <a:spLocks/>
          </p:cNvSpPr>
          <p:nvPr/>
        </p:nvSpPr>
        <p:spPr>
          <a:xfrm>
            <a:off x="10706097" y="5963679"/>
            <a:ext cx="2186532" cy="114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Ye Chen</a:t>
            </a:r>
            <a:endParaRPr lang="en-US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2430026255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Problem1(c)-Model Comparison &amp; 95% Prediction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66750" y="1873938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6750" y="1807611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66750" y="2323818"/>
                <a:ext cx="10907299" cy="2065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We compare the linear association between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 err="1"/>
                  <a:t>Portfolio.F</a:t>
                </a:r>
                <a:r>
                  <a:rPr lang="en-US" altLang="zh-CN" dirty="0"/>
                  <a:t> and each factor using the correlation coefficient: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Corr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b="0" dirty="0"/>
              </a:p>
              <a:p>
                <a:r>
                  <a:rPr lang="en-US" altLang="zh-CN" dirty="0"/>
                  <a:t>From the data: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7406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ar-AE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5485</m:t>
                      </m:r>
                    </m:oMath>
                  </m:oMathPara>
                </a14:m>
                <a:endParaRPr lang="ar-AE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7362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ar-AE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5420</m:t>
                      </m:r>
                    </m:oMath>
                  </m:oMathPara>
                </a14:m>
                <a:endParaRPr lang="ar-AE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2323818"/>
                <a:ext cx="10907299" cy="2065694"/>
              </a:xfrm>
              <a:prstGeom prst="rect">
                <a:avLst/>
              </a:prstGeom>
              <a:blipFill rotWithShape="1">
                <a:blip r:embed="rId2"/>
                <a:stretch>
                  <a:fillRect t="-17" r="5" b="-17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659" y="3677744"/>
            <a:ext cx="2000529" cy="53347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5329" y="5705606"/>
            <a:ext cx="9742379" cy="662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Thus </a:t>
            </a:r>
            <a:r>
              <a:rPr lang="en-US" altLang="zh-CN" dirty="0">
                <a:solidFill>
                  <a:srgbClr val="0070C0"/>
                </a:solidFill>
              </a:rPr>
              <a:t>Model 1</a:t>
            </a:r>
            <a:r>
              <a:rPr lang="en-US" altLang="zh-CN" dirty="0"/>
              <a:t> has slightly better fit and is selected as the better model.</a:t>
            </a:r>
          </a:p>
          <a:p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9046662" y="3075077"/>
            <a:ext cx="155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 Output: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645848" y="4444552"/>
                <a:ext cx="1550358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848" y="4444552"/>
                <a:ext cx="1550358" cy="370294"/>
              </a:xfrm>
              <a:prstGeom prst="rect">
                <a:avLst/>
              </a:prstGeom>
              <a:blipFill rotWithShape="1">
                <a:blip r:embed="rId4"/>
                <a:stretch>
                  <a:fillRect l="-12" t="-51" r="33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6557376" y="4444552"/>
                <a:ext cx="1152394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376" y="4444552"/>
                <a:ext cx="1152394" cy="370294"/>
              </a:xfrm>
              <a:prstGeom prst="rect">
                <a:avLst/>
              </a:prstGeom>
              <a:blipFill rotWithShape="1">
                <a:blip r:embed="rId5"/>
                <a:stretch>
                  <a:fillRect l="-32" t="-51" r="20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146108" y="4877969"/>
                <a:ext cx="544882" cy="372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108" y="4877969"/>
                <a:ext cx="544882" cy="372538"/>
              </a:xfrm>
              <a:prstGeom prst="rect">
                <a:avLst/>
              </a:prstGeom>
              <a:blipFill rotWithShape="1">
                <a:blip r:embed="rId6"/>
                <a:stretch>
                  <a:fillRect l="-12" t="-143" r="22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6861132" y="4877456"/>
                <a:ext cx="544882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1132" y="4877456"/>
                <a:ext cx="544882" cy="373051"/>
              </a:xfrm>
              <a:prstGeom prst="rect">
                <a:avLst/>
              </a:prstGeom>
              <a:blipFill rotWithShape="1">
                <a:blip r:embed="rId7"/>
                <a:stretch>
                  <a:fillRect l="-109" t="-6" r="2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5789111" y="4482399"/>
                <a:ext cx="81419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111" y="4482399"/>
                <a:ext cx="814191" cy="370294"/>
              </a:xfrm>
              <a:prstGeom prst="rect">
                <a:avLst/>
              </a:prstGeom>
              <a:blipFill rotWithShape="1">
                <a:blip r:embed="rId8"/>
                <a:stretch>
                  <a:fillRect l="-55" t="-154" r="70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5789111" y="4945580"/>
                <a:ext cx="81419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111" y="4945580"/>
                <a:ext cx="814191" cy="370294"/>
              </a:xfrm>
              <a:prstGeom prst="rect">
                <a:avLst/>
              </a:prstGeom>
              <a:blipFill rotWithShape="1">
                <a:blip r:embed="rId8"/>
                <a:stretch>
                  <a:fillRect l="-55" t="-54" r="70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4912822" y="4444552"/>
            <a:ext cx="2859578" cy="93378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占位符 3">
            <a:extLst>
              <a:ext uri="{FF2B5EF4-FFF2-40B4-BE49-F238E27FC236}">
                <a16:creationId xmlns:a16="http://schemas.microsoft.com/office/drawing/2014/main" id="{3421AD50-65B7-2914-8912-B46E695D86E6}"/>
              </a:ext>
            </a:extLst>
          </p:cNvPr>
          <p:cNvSpPr txBox="1">
            <a:spLocks/>
          </p:cNvSpPr>
          <p:nvPr/>
        </p:nvSpPr>
        <p:spPr>
          <a:xfrm>
            <a:off x="10477257" y="5999883"/>
            <a:ext cx="1617364" cy="7373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Ye Chen</a:t>
            </a:r>
            <a:endParaRPr lang="en-US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2430026255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Problem1(c)-Model Comparison &amp; 95% Prediction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63203" y="956692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6750" y="1807611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2909" y="5388044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622909" y="5791251"/>
                <a:ext cx="9942795" cy="958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altLang="zh-CN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7406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5485</m:t>
                        </m:r>
                      </m:e>
                    </m:d>
                  </m:oMath>
                </a14:m>
                <a:r>
                  <a:rPr lang="en-US" altLang="zh-CN" dirty="0"/>
                  <a:t>is slightly larger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7362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5420</m:t>
                        </m:r>
                      </m:e>
                    </m:d>
                  </m:oMath>
                </a14:m>
                <a:r>
                  <a:rPr lang="ar-AE" altLang="zh-CN" dirty="0"/>
                  <a:t>,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Market.x1 provides the stronger linear fit for </a:t>
                </a:r>
                <a:r>
                  <a:rPr lang="en-US" altLang="zh-CN" dirty="0" err="1">
                    <a:solidFill>
                      <a:srgbClr val="0070C0"/>
                    </a:solidFill>
                  </a:rPr>
                  <a:t>Portfolio.F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.</a:t>
                </a:r>
                <a:r>
                  <a:rPr lang="en-US" altLang="zh-CN" dirty="0"/>
                  <a:t> Using Model 1 at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9613</m:t>
                    </m:r>
                  </m:oMath>
                </a14:m>
                <a:r>
                  <a:rPr lang="ar-AE" altLang="zh-CN" dirty="0"/>
                  <a:t>, </a:t>
                </a:r>
                <a:r>
                  <a:rPr lang="en-US" altLang="zh-CN" dirty="0"/>
                  <a:t>the 95% mean-response CI is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5724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3501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dirty="0"/>
                  <a:t>and the 95% individual PI is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6142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5367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ar-AE" altLang="zh-CN" dirty="0"/>
                  <a:t>.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09" y="5791251"/>
                <a:ext cx="9942795" cy="958980"/>
              </a:xfrm>
              <a:prstGeom prst="rect">
                <a:avLst/>
              </a:prstGeom>
              <a:blipFill rotWithShape="1">
                <a:blip r:embed="rId2"/>
                <a:stretch>
                  <a:fillRect l="-6" t="-5" r="6" b="-4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463203" y="1290475"/>
                <a:ext cx="6974127" cy="2341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Using the chosen model, compute intervals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altLang="zh-CN" dirty="0"/>
                  <a:t>:</a:t>
                </a:r>
                <a:r>
                  <a:rPr lang="en-US" altLang="zh-CN" dirty="0"/>
                  <a:t> we compute interval estimates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altLang="zh-CN" dirty="0"/>
                  <a:t>.</a:t>
                </a:r>
                <a:r>
                  <a:rPr lang="en-US" altLang="zh-CN" dirty="0"/>
                  <a:t> The estimated standard error of the mean response is</a:t>
                </a:r>
                <a:endParaRPr lang="en-US" altLang="zh-CN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Mean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response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95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% 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CI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: </m:t>
                      </m:r>
                      <m:acc>
                        <m:accPr>
                          <m:chr m:val="̂"/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CN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975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ar-AE" altLang="zh-CN" i="1">
                              <a:solidFill>
                                <a:srgbClr val="0070C0"/>
                              </a:solidFill>
                              <a:latin typeface="DejaVu Math TeX Gyre" panose="02000503000000000000" charset="0"/>
                            </a:rPr>
                            <m:t> </m:t>
                          </m:r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ar-AE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 </m:t>
                      </m:r>
                      <m:r>
                        <a:rPr lang="zh-CN" altLang="ar-AE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me</m:t>
                          </m:r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𝑎𝑛</m:t>
                          </m:r>
                        </m:sub>
                      </m:sSub>
                      <m:d>
                        <m:d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CN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b="0" dirty="0">
                  <a:solidFill>
                    <a:srgbClr val="0070C0"/>
                  </a:solidFill>
                </a:endParaRPr>
              </a:p>
              <a:p>
                <a:r>
                  <a:rPr lang="en-US" altLang="zh-CN" dirty="0"/>
                  <a:t>For predicting a future individual observation, the uncertainty includes additional random variation, leading 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Individual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95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% 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PI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: </m:t>
                      </m:r>
                      <m:acc>
                        <m:accPr>
                          <m:chr m:val="̂"/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CN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975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ar-AE" altLang="zh-CN" i="1">
                              <a:solidFill>
                                <a:srgbClr val="0070C0"/>
                              </a:solidFill>
                              <a:latin typeface="DejaVu Math TeX Gyre" panose="02000503000000000000" charset="0"/>
                            </a:rPr>
                            <m:t> </m:t>
                          </m:r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ar-AE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 </m:t>
                      </m:r>
                      <m:r>
                        <a:rPr lang="zh-CN" altLang="ar-AE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d>
                        <m:d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CN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altLang="zh-CN" dirty="0">
                  <a:solidFill>
                    <a:srgbClr val="0070C0"/>
                  </a:solidFill>
                </a:endParaRPr>
              </a:p>
              <a:p>
                <a:endParaRPr lang="ar-AE" altLang="zh-CN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03" y="1290475"/>
                <a:ext cx="6974127" cy="2341923"/>
              </a:xfrm>
              <a:prstGeom prst="rect">
                <a:avLst/>
              </a:prstGeom>
              <a:blipFill rotWithShape="1">
                <a:blip r:embed="rId3"/>
                <a:stretch>
                  <a:fillRect l="-4" t="-7" r="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7207402" y="4546034"/>
            <a:ext cx="48037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scatterplot shows a clear positive linear trend between Market.x1 and </a:t>
            </a:r>
            <a:r>
              <a:rPr lang="en-US" altLang="zh-CN" dirty="0" err="1"/>
              <a:t>Portfolio.F</a:t>
            </a:r>
            <a:r>
              <a:rPr lang="en-US" altLang="zh-CN" dirty="0"/>
              <a:t>, with the prediction band wider than the mean-response confidence band.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543" y="1859872"/>
            <a:ext cx="4325915" cy="26932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2044" y="894321"/>
            <a:ext cx="2467319" cy="94310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97868" y="1020871"/>
            <a:ext cx="122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 Output:</a:t>
            </a:r>
            <a:endParaRPr lang="zh-CN" altLang="en-US" b="1" dirty="0"/>
          </a:p>
        </p:txBody>
      </p:sp>
      <p:sp>
        <p:nvSpPr>
          <p:cNvPr id="5" name="箭头: 下 4"/>
          <p:cNvSpPr/>
          <p:nvPr/>
        </p:nvSpPr>
        <p:spPr>
          <a:xfrm>
            <a:off x="3582785" y="3429000"/>
            <a:ext cx="315884" cy="537181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2579747" y="4083207"/>
                <a:ext cx="32170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070C0"/>
                    </a:solidFill>
                  </a:rPr>
                  <a:t>CI 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：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5724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3501</m:t>
                        </m:r>
                      </m:e>
                    </m:d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  <a:p>
                <a:r>
                  <a:rPr lang="en-US" altLang="zh-CN" dirty="0">
                    <a:solidFill>
                      <a:srgbClr val="0070C0"/>
                    </a:solidFill>
                  </a:rPr>
                  <a:t>PI 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：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6142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5367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747" y="4083207"/>
                <a:ext cx="3217025" cy="646331"/>
              </a:xfrm>
              <a:prstGeom prst="rect">
                <a:avLst/>
              </a:prstGeom>
              <a:blipFill rotWithShape="1">
                <a:blip r:embed="rId6"/>
                <a:stretch>
                  <a:fillRect l="-12" t="-24" r="15" b="-6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766958" y="2789882"/>
            <a:ext cx="9479713" cy="21358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zh-CN" b="1" dirty="0"/>
              <a:t>Conclusion of Problem1</a:t>
            </a:r>
          </a:p>
          <a:p>
            <a:pPr>
              <a:lnSpc>
                <a:spcPts val="2300"/>
              </a:lnSpc>
            </a:pPr>
            <a:r>
              <a:rPr lang="en-US" altLang="zh-CN" dirty="0"/>
              <a:t>Both Market.x1 and SMB.x2 show </a:t>
            </a:r>
            <a:r>
              <a:rPr lang="en-US" altLang="zh-CN" dirty="0">
                <a:solidFill>
                  <a:srgbClr val="0070C0"/>
                </a:solidFill>
              </a:rPr>
              <a:t>positive linear relationships</a:t>
            </a:r>
            <a:r>
              <a:rPr lang="en-US" altLang="zh-CN" dirty="0"/>
              <a:t> with </a:t>
            </a:r>
            <a:r>
              <a:rPr lang="en-US" altLang="zh-CN" dirty="0" err="1"/>
              <a:t>Portfolio.F</a:t>
            </a:r>
            <a:r>
              <a:rPr lang="en-US" altLang="zh-CN" dirty="0"/>
              <a:t>, indicating that </a:t>
            </a:r>
            <a:r>
              <a:rPr lang="en-US" altLang="zh-CN" dirty="0" err="1"/>
              <a:t>Portfolio.F</a:t>
            </a:r>
            <a:r>
              <a:rPr lang="en-US" altLang="zh-CN" dirty="0"/>
              <a:t> tends to increase as the factors increase.</a:t>
            </a:r>
            <a:r>
              <a:rPr lang="en-US" altLang="zh-CN" dirty="0">
                <a:solidFill>
                  <a:srgbClr val="0070C0"/>
                </a:solidFill>
              </a:rPr>
              <a:t>Market.x1 </a:t>
            </a:r>
            <a:r>
              <a:rPr lang="en-US" altLang="zh-CN" dirty="0"/>
              <a:t>exhibits a slightly stronger association and is therefore preferred for prediction.</a:t>
            </a:r>
          </a:p>
          <a:p>
            <a:pPr>
              <a:lnSpc>
                <a:spcPts val="2300"/>
              </a:lnSpc>
            </a:pPr>
            <a:r>
              <a:rPr lang="en-US" altLang="zh-CN" b="1" dirty="0"/>
              <a:t>This has important statistical significance: </a:t>
            </a:r>
            <a:r>
              <a:rPr lang="en-US" altLang="zh-CN" dirty="0"/>
              <a:t>The fitted regression line provides a clear directional (positive) effect for forecasting. The mean-response CI measures uncertainty in expected returns, while the individual PI captures the variability of future realized values.</a:t>
            </a:r>
            <a:endParaRPr lang="zh-CN" altLang="en-US" dirty="0"/>
          </a:p>
        </p:txBody>
      </p:sp>
      <p:sp>
        <p:nvSpPr>
          <p:cNvPr id="15" name="文本占位符 3">
            <a:extLst>
              <a:ext uri="{FF2B5EF4-FFF2-40B4-BE49-F238E27FC236}">
                <a16:creationId xmlns:a16="http://schemas.microsoft.com/office/drawing/2014/main" id="{FF2CC605-F2B3-C4D6-D86B-838212D98D1A}"/>
              </a:ext>
            </a:extLst>
          </p:cNvPr>
          <p:cNvSpPr txBox="1">
            <a:spLocks/>
          </p:cNvSpPr>
          <p:nvPr/>
        </p:nvSpPr>
        <p:spPr>
          <a:xfrm>
            <a:off x="10706097" y="5963679"/>
            <a:ext cx="2186532" cy="114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Ye Chen</a:t>
            </a:r>
            <a:endParaRPr lang="en-US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2430026255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9337" y="679014"/>
            <a:ext cx="6489540" cy="2579605"/>
          </a:xfrm>
        </p:spPr>
        <p:txBody>
          <a:bodyPr/>
          <a:lstStyle/>
          <a:p>
            <a:r>
              <a:rPr lang="en-US" altLang="zh-CN" dirty="0"/>
              <a:t>Problem2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/>
        <p:txBody>
          <a:bodyPr/>
          <a:lstStyle/>
          <a:p>
            <a:r>
              <a:rPr lang="en-US" dirty="0"/>
              <a:t>Comparison of Simple Regression models:</a:t>
            </a:r>
          </a:p>
          <a:p>
            <a:r>
              <a:rPr lang="en-US" dirty="0"/>
              <a:t>x1(Market) VS. x2(HML)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239337" y="4954751"/>
            <a:ext cx="5877156" cy="1038953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altLang="zh-CN" sz="1600" b="1" dirty="0"/>
              <a:t>Liu </a:t>
            </a:r>
            <a:r>
              <a:rPr lang="en-US" altLang="zh-CN" sz="1600" b="1" dirty="0" err="1"/>
              <a:t>Fangbing</a:t>
            </a:r>
            <a:endParaRPr lang="en-US" altLang="zh-CN" sz="1600" b="1" dirty="0"/>
          </a:p>
          <a:p>
            <a:r>
              <a:rPr lang="en-US" sz="1600" b="1" dirty="0"/>
              <a:t>2430026126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82044" y="144049"/>
            <a:ext cx="60789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Arial" panose="020B0604020202090204"/>
                <a:ea typeface="微软雅黑"/>
              </a:rPr>
              <a:t>Problem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2  </a:t>
            </a:r>
            <a:r>
              <a:rPr lang="en-US" altLang="zh-CN" sz="2800" b="1" dirty="0">
                <a:solidFill>
                  <a:srgbClr val="000000"/>
                </a:solidFill>
              </a:rPr>
              <a:t>Question Background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08602" y="1080256"/>
            <a:ext cx="4379801" cy="1914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Using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492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monthly observations, we examine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Portfolio.F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(y)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versus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Market.x1 (x1)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and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HML.x3 (x3).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Returns are volatile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(x1: mean 0.47, SD 4.50; x3: mean 0.45, SD 2.89; y: mean 1.40, SD 6.48)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. 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389981" y="916290"/>
          <a:ext cx="552339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Var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Mean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6.48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x1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4.50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2.89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" name="图片 16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19" y="2835045"/>
            <a:ext cx="4704762" cy="1828571"/>
          </a:xfrm>
          <a:prstGeom prst="rect">
            <a:avLst/>
          </a:prstGeom>
        </p:spPr>
      </p:pic>
      <p:pic>
        <p:nvPicPr>
          <p:cNvPr id="19" name="图片 18" descr="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19" y="4704465"/>
            <a:ext cx="4323809" cy="1885714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208602" y="2994883"/>
            <a:ext cx="47758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The purpose of this analysis is to assess whether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Portfolio.F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has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 meaningful linear relationship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with Market.x1 and HML.x3 using simple regression lines, identify the factor with stronger linear association, and report uncertainty ranges for the mean and individual responses at specified x values.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37B38BBA-ED0C-967F-07CE-2856DF4A5BEA}"/>
              </a:ext>
            </a:extLst>
          </p:cNvPr>
          <p:cNvSpPr txBox="1">
            <a:spLocks/>
          </p:cNvSpPr>
          <p:nvPr/>
        </p:nvSpPr>
        <p:spPr>
          <a:xfrm>
            <a:off x="10790125" y="5736603"/>
            <a:ext cx="1611018" cy="103895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Liu </a:t>
            </a:r>
            <a:r>
              <a:rPr lang="en-US" altLang="zh-CN" sz="1600" b="1" dirty="0" err="1">
                <a:solidFill>
                  <a:srgbClr val="000000"/>
                </a:solidFill>
              </a:rPr>
              <a:t>Fangbing</a:t>
            </a:r>
            <a:endParaRPr lang="en-US" altLang="zh-CN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2430026126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92483"/>
            <a:ext cx="10858500" cy="461665"/>
          </a:xfrm>
        </p:spPr>
        <p:txBody>
          <a:bodyPr/>
          <a:lstStyle/>
          <a:p>
            <a:r>
              <a:rPr lang="en-US" altLang="zh-CN" sz="2400" dirty="0"/>
              <a:t>Problem2</a:t>
            </a:r>
            <a:r>
              <a:rPr lang="en-US" sz="2400" dirty="0"/>
              <a:t>(a)-Fitted Regression Models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66750" y="1807611"/>
                <a:ext cx="572787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We fit two simple OLS regressions: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 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 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𝜀</m:t>
                      </m:r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The fitted lines are: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1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Market.x1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ar-AE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8942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0671</m:t>
                      </m:r>
                      <m:r>
                        <m:rPr>
                          <m:nor/>
                        </m:rP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90204"/>
                          <a:ea typeface="微软雅黑"/>
                          <a:cs typeface="+mn-cs"/>
                        </a:rPr>
                        <m:t> </m:t>
                      </m:r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ar-AE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2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HML.x3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ar-AE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6866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6442</m:t>
                      </m:r>
                      <m:r>
                        <m:rPr>
                          <m:nor/>
                        </m:rP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90204"/>
                          <a:ea typeface="微软雅黑"/>
                          <a:cs typeface="+mn-cs"/>
                        </a:rPr>
                        <m:t> </m:t>
                      </m:r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ar-AE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807611"/>
                <a:ext cx="5727874" cy="2308324"/>
              </a:xfrm>
              <a:prstGeom prst="rect">
                <a:avLst/>
              </a:prstGeom>
              <a:blipFill rotWithShape="1">
                <a:blip r:embed="rId2"/>
                <a:stretch>
                  <a:fillRect t="-17" r="3" b="-45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505701" y="4569288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2579" y="5057316"/>
            <a:ext cx="99427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The simple linear regressions reveal positive fitted relationships between Portfolio F and Market.x1, while demonstrating a negative association with HML.x3. The estimated regression lines quantify how Portfolio F systematically varies with fluctuations in these factors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93977" y="1807611"/>
            <a:ext cx="200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6" name="图片 5" descr="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647" y="2264287"/>
            <a:ext cx="5471353" cy="2186099"/>
          </a:xfrm>
          <a:prstGeom prst="rect">
            <a:avLst/>
          </a:prstGeom>
        </p:spPr>
      </p:pic>
      <p:sp>
        <p:nvSpPr>
          <p:cNvPr id="7" name="文本占位符 3">
            <a:extLst>
              <a:ext uri="{FF2B5EF4-FFF2-40B4-BE49-F238E27FC236}">
                <a16:creationId xmlns:a16="http://schemas.microsoft.com/office/drawing/2014/main" id="{09719346-0730-E4BE-AC5F-01120A2FB773}"/>
              </a:ext>
            </a:extLst>
          </p:cNvPr>
          <p:cNvSpPr txBox="1">
            <a:spLocks/>
          </p:cNvSpPr>
          <p:nvPr/>
        </p:nvSpPr>
        <p:spPr>
          <a:xfrm>
            <a:off x="10564656" y="5724076"/>
            <a:ext cx="1611018" cy="103895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Liu </a:t>
            </a:r>
            <a:r>
              <a:rPr lang="en-US" altLang="zh-CN" sz="1600" b="1" dirty="0" err="1">
                <a:solidFill>
                  <a:srgbClr val="000000"/>
                </a:solidFill>
              </a:rPr>
              <a:t>Fangbing</a:t>
            </a:r>
            <a:endParaRPr lang="en-US" altLang="zh-CN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2430026126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Problem2(b) - Slope Significance Test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40002" y="1087357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66750" y="1473599"/>
                <a:ext cx="7043020" cy="184313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/>
                    <a:cs typeface="+mn-cs"/>
                  </a:rPr>
                  <a:t>Hypothesis Setup: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          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≠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</m:oMath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𝑆𝐸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den>
                      </m:f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 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𝑑𝑓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490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 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𝑝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𝑑𝑓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We conclude significance if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𝑝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&lt;0.05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Market.x1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0671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m:rPr>
                        <m:nor/>
                      </m:rPr>
                      <a:rPr kumimoji="0" lang="ar-AE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90204"/>
                        <a:ea typeface="微软雅黑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t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4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2984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m:rPr>
                        <m:nor/>
                      </m:rPr>
                      <a:rPr kumimoji="0" lang="ar-AE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90204"/>
                        <a:ea typeface="微软雅黑"/>
                        <a:cs typeface="+mn-cs"/>
                      </a:rPr>
                      <m:t> </m:t>
                    </m:r>
                    <m:r>
                      <a:rPr kumimoji="0" lang="zh-CN" alt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𝑝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0000</m:t>
                    </m:r>
                    <m:r>
                      <a:rPr kumimoji="0" lang="ar-AE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≪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05</m:t>
                    </m:r>
                  </m:oMath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HML.x3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6442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m:rPr>
                        <m:nor/>
                      </m:rPr>
                      <a:rPr kumimoji="0" lang="ar-AE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90204"/>
                        <a:ea typeface="微软雅黑"/>
                        <a:cs typeface="+mn-cs"/>
                      </a:rPr>
                      <m:t> </m:t>
                    </m:r>
                    <m:r>
                      <a:rPr kumimoji="0" lang="zh-CN" alt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𝑡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=−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6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6285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m:rPr>
                        <m:nor/>
                      </m:rPr>
                      <a:rPr kumimoji="0" lang="ar-AE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90204"/>
                        <a:ea typeface="微软雅黑"/>
                        <a:cs typeface="+mn-cs"/>
                      </a:rPr>
                      <m:t> </m:t>
                    </m:r>
                    <m:r>
                      <a:rPr kumimoji="0" lang="zh-CN" alt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𝑝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0000</m:t>
                    </m:r>
                    <m:r>
                      <a:rPr kumimoji="0" lang="en-US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≪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05</m:t>
                    </m:r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473599"/>
                <a:ext cx="7043020" cy="1843133"/>
              </a:xfrm>
              <a:prstGeom prst="rect">
                <a:avLst/>
              </a:prstGeom>
              <a:blipFill rotWithShape="1">
                <a:blip r:embed="rId2"/>
                <a:stretch>
                  <a:fillRect l="-90" t="-366" r="-87" b="-33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640002" y="5463487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632674" y="5966138"/>
                <a:ext cx="101252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Both hypothesis tests and regression plots confirm the same result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have significant linear effects on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Portfolio.F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with a positive trend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 a negative trend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.</a:t>
                </a:r>
                <a:endPara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74" y="5966138"/>
                <a:ext cx="10125222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2" t="-48" r="4" b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657878" y="3411063"/>
            <a:ext cx="160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74" y="4619725"/>
            <a:ext cx="4104925" cy="25132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02" y="5050247"/>
            <a:ext cx="4171395" cy="234039"/>
          </a:xfrm>
          <a:prstGeom prst="rect">
            <a:avLst/>
          </a:prstGeom>
        </p:spPr>
      </p:pic>
      <p:pic>
        <p:nvPicPr>
          <p:cNvPr id="7" name="图片 6" descr="图表, 散点图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6518" y="2391630"/>
            <a:ext cx="3830081" cy="213702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4127" y="503679"/>
            <a:ext cx="3666038" cy="1996027"/>
          </a:xfrm>
          <a:prstGeom prst="rect">
            <a:avLst/>
          </a:prstGeom>
        </p:spPr>
      </p:pic>
      <p:pic>
        <p:nvPicPr>
          <p:cNvPr id="13" name="图片 12" descr="图形用户界面, 文本, 应用程序&#10;&#10;AI 生成的内容可能不正确。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02" y="3882937"/>
            <a:ext cx="3917105" cy="74122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777867" y="4464486"/>
            <a:ext cx="38154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The plots show a significant positive linear relationship between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Portfolio.F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and Market.x1, and a significant negative relationship with HML.x3.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55622" y="2618509"/>
            <a:ext cx="2302625" cy="81049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B14F9125-654A-ED75-37FF-B5C0A9C03E23}"/>
              </a:ext>
            </a:extLst>
          </p:cNvPr>
          <p:cNvSpPr txBox="1">
            <a:spLocks/>
          </p:cNvSpPr>
          <p:nvPr/>
        </p:nvSpPr>
        <p:spPr>
          <a:xfrm>
            <a:off x="10564656" y="5717813"/>
            <a:ext cx="1611018" cy="103895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Liu </a:t>
            </a:r>
            <a:r>
              <a:rPr lang="en-US" altLang="zh-CN" sz="1600" b="1" dirty="0" err="1">
                <a:solidFill>
                  <a:srgbClr val="000000"/>
                </a:solidFill>
              </a:rPr>
              <a:t>Fangbing</a:t>
            </a:r>
            <a:endParaRPr lang="en-US" altLang="zh-CN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2430026126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Problem2(c)-Model Comparison &amp; 95% Prediction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12077" y="1293772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5329" y="1454724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585329" y="1702343"/>
                <a:ext cx="10907299" cy="2065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We compare the linear association between </a:t>
                </a:r>
                <a14:m>
                  <m:oMath xmlns:m="http://schemas.openxmlformats.org/officeDocument/2006/math"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Portfolio.F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and each factor using the correlation coefficient: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sub>
                      </m:sSub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Corr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y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x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), 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p>
                        <m:sSup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</m:e>
                        <m:sup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p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From the data: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7406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⇒</m:t>
                      </m:r>
                      <m:sSubSup>
                        <m:sSubSupPr>
                          <m:ctrlPr>
                            <a:rPr kumimoji="0" lang="ar-AE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ar-AE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ar-AE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5485</m:t>
                      </m:r>
                    </m:oMath>
                  </m:oMathPara>
                </a14:m>
                <a:endParaRPr kumimoji="0" lang="ar-AE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2869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⇒</m:t>
                      </m:r>
                      <m:sSubSup>
                        <m:sSubSupPr>
                          <m:ctrlPr>
                            <a:rPr kumimoji="0" lang="ar-AE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  <m:sup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0822</m:t>
                      </m:r>
                    </m:oMath>
                  </m:oMathPara>
                </a14:m>
                <a:endParaRPr kumimoji="0" lang="ar-AE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29" y="1702343"/>
                <a:ext cx="10907299" cy="2065694"/>
              </a:xfrm>
              <a:prstGeom prst="rect">
                <a:avLst/>
              </a:prstGeom>
              <a:blipFill rotWithShape="1">
                <a:blip r:embed="rId2"/>
                <a:stretch>
                  <a:fillRect l="-5" t="-26" r="4" b="-16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585329" y="5978656"/>
                <a:ext cx="9742379" cy="662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&gt;</m:t>
                    </m:r>
                    <m:sSup>
                      <m:sSup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, 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thus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1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has slightly better fit and is selected as the better model.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29" y="5978656"/>
                <a:ext cx="9742379" cy="662938"/>
              </a:xfrm>
              <a:prstGeom prst="rect">
                <a:avLst/>
              </a:prstGeom>
              <a:blipFill rotWithShape="1">
                <a:blip r:embed="rId3"/>
                <a:stretch>
                  <a:fillRect l="-5" t="-20" r="1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612077" y="3583371"/>
            <a:ext cx="155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6" name="图片 5" descr="文本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435" y="4229734"/>
            <a:ext cx="4563112" cy="1247949"/>
          </a:xfrm>
          <a:prstGeom prst="rect">
            <a:avLst/>
          </a:prstGeom>
        </p:spPr>
      </p:pic>
      <p:sp>
        <p:nvSpPr>
          <p:cNvPr id="9" name="文本占位符 3">
            <a:extLst>
              <a:ext uri="{FF2B5EF4-FFF2-40B4-BE49-F238E27FC236}">
                <a16:creationId xmlns:a16="http://schemas.microsoft.com/office/drawing/2014/main" id="{92D36F95-FF6A-307D-7246-CDEE04F9CC6A}"/>
              </a:ext>
            </a:extLst>
          </p:cNvPr>
          <p:cNvSpPr txBox="1">
            <a:spLocks/>
          </p:cNvSpPr>
          <p:nvPr/>
        </p:nvSpPr>
        <p:spPr>
          <a:xfrm>
            <a:off x="10564656" y="5717813"/>
            <a:ext cx="1611018" cy="103895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Liu </a:t>
            </a:r>
            <a:r>
              <a:rPr lang="en-US" altLang="zh-CN" sz="1600" b="1" dirty="0" err="1">
                <a:solidFill>
                  <a:srgbClr val="000000"/>
                </a:solidFill>
              </a:rPr>
              <a:t>Fangbing</a:t>
            </a:r>
            <a:endParaRPr lang="en-US" altLang="zh-CN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2430026126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60400" y="504825"/>
            <a:ext cx="10858500" cy="523875"/>
          </a:xfrm>
        </p:spPr>
        <p:txBody>
          <a:bodyPr/>
          <a:lstStyle/>
          <a:p>
            <a:r>
              <a:rPr lang="en-US" altLang="zh-CN" dirty="0"/>
              <a:t>Problem2(c)-Model Comparison &amp; 95% Prediction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84557" y="1132665"/>
            <a:ext cx="7043020" cy="16068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</a:p>
          <a:p>
            <a:pPr>
              <a:lnSpc>
                <a:spcPts val="2400"/>
              </a:lnSpc>
            </a:pPr>
            <a:r>
              <a:rPr lang="en-US" altLang="zh-CN" dirty="0"/>
              <a:t>Because we use the same model as in Question 1 to compute the 95% prediction interval, the procedure and results are identical, so no further explanation is provided here.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97868" y="1020871"/>
            <a:ext cx="122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9" name="图片 8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545" y="1020871"/>
            <a:ext cx="1905266" cy="504895"/>
          </a:xfrm>
          <a:prstGeom prst="rect">
            <a:avLst/>
          </a:prstGeom>
        </p:spPr>
      </p:pic>
      <p:pic>
        <p:nvPicPr>
          <p:cNvPr id="11" name="图片 10" descr="图片包含 徽标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545" y="1544746"/>
            <a:ext cx="2133898" cy="66684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83383" y="2643425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483383" y="3068682"/>
                <a:ext cx="9942795" cy="958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7406</m:t>
                    </m:r>
                    <m:d>
                      <m:d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zh-CN" alt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  <m:sup>
                            <m:r>
                              <a:rPr kumimoji="0" lang="ar-AE" altLang="zh-C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.</m:t>
                        </m:r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5485</m:t>
                        </m:r>
                      </m:e>
                    </m:d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is larger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2869</m:t>
                    </m:r>
                    <m:d>
                      <m:d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zh-CN" alt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  <m:sup>
                            <m:r>
                              <a:rPr kumimoji="0" lang="ar-AE" altLang="zh-C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.</m:t>
                        </m:r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0822</m:t>
                        </m:r>
                      </m:e>
                    </m:d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Market.x1 provides the stronger linear fit for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Portfolio.F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.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Using Model 1 at </a:t>
                </a:r>
                <a14:m>
                  <m:oMath xmlns:m="http://schemas.openxmlformats.org/officeDocument/2006/math"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9613</m:t>
                    </m:r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the 95% mean-response CI is 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5724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3501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 the 95% individual PI is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[−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6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6142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10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5367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.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83" y="3068682"/>
                <a:ext cx="9942795" cy="958980"/>
              </a:xfrm>
              <a:prstGeom prst="rect">
                <a:avLst/>
              </a:prstGeom>
              <a:blipFill rotWithShape="1">
                <a:blip r:embed="rId4"/>
                <a:stretch>
                  <a:fillRect l="-1" t="-38" r="1" b="-4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584557" y="4607867"/>
                <a:ext cx="9479713" cy="154593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Conclusion of Problem 2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have statistically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significant linear effects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on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Portfolio.F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as confirmed by their near-zero p-values and the clear trends in the regression plots. The positive slope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 negative slope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indicate distinct directional impacts, reinforcing the meaningful predictive value of these factors.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57" y="4607867"/>
                <a:ext cx="9479713" cy="1545936"/>
              </a:xfrm>
              <a:prstGeom prst="rect">
                <a:avLst/>
              </a:prstGeom>
              <a:blipFill rotWithShape="1">
                <a:blip r:embed="rId5"/>
                <a:stretch>
                  <a:fillRect l="-4" t="-20" r="2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584557" y="1466654"/>
            <a:ext cx="7672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F3AB384E-4023-92B1-9D24-81F7230214BC}"/>
              </a:ext>
            </a:extLst>
          </p:cNvPr>
          <p:cNvSpPr txBox="1">
            <a:spLocks/>
          </p:cNvSpPr>
          <p:nvPr/>
        </p:nvSpPr>
        <p:spPr>
          <a:xfrm>
            <a:off x="10564656" y="5717813"/>
            <a:ext cx="1611018" cy="103895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</a:rPr>
              <a:t>Liu </a:t>
            </a:r>
            <a:r>
              <a:rPr lang="en-US" altLang="zh-CN" sz="1600" b="1" dirty="0" err="1">
                <a:solidFill>
                  <a:srgbClr val="000000"/>
                </a:solidFill>
              </a:rPr>
              <a:t>Fangbing</a:t>
            </a:r>
            <a:endParaRPr lang="en-US" altLang="zh-CN" sz="16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2430026126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en-US" altLang="zh-CN" dirty="0"/>
              <a:t>Problem 3</a:t>
            </a:r>
            <a:endParaRPr lang="en-US" altLang="zh-CN" sz="36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26967" y="5095721"/>
            <a:ext cx="5877156" cy="897983"/>
          </a:xfrm>
        </p:spPr>
        <p:txBody>
          <a:bodyPr>
            <a:normAutofit/>
          </a:bodyPr>
          <a:lstStyle/>
          <a:p>
            <a:r>
              <a:rPr lang="en-US" altLang="zh-CN" sz="1600" dirty="0" err="1"/>
              <a:t>WangZhengyang</a:t>
            </a:r>
            <a:r>
              <a:rPr lang="en-US" altLang="zh-CN" sz="1600" dirty="0"/>
              <a:t> </a:t>
            </a:r>
          </a:p>
          <a:p>
            <a:r>
              <a:rPr lang="en-US" altLang="zh-CN" sz="1600" dirty="0"/>
              <a:t>2330031281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39520" y="3898265"/>
            <a:ext cx="4763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Market Factor (x1) vs RMW Factor (x4)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82044" y="144049"/>
            <a:ext cx="287472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Problem 3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4714" y="171998"/>
            <a:ext cx="46234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Question Background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44" y="1412008"/>
            <a:ext cx="5123815" cy="50438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02881" y="4842275"/>
            <a:ext cx="58070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Market.x1 and SMB.x4 show relatively </a:t>
            </a:r>
            <a:r>
              <a:rPr lang="en-US" altLang="zh-CN" dirty="0">
                <a:solidFill>
                  <a:srgbClr val="0070C0"/>
                </a:solidFill>
              </a:rPr>
              <a:t>small average returns </a:t>
            </a:r>
            <a:r>
              <a:rPr lang="en-US" altLang="zh-CN" dirty="0"/>
              <a:t>with </a:t>
            </a:r>
            <a:r>
              <a:rPr lang="en-US" altLang="zh-CN" dirty="0">
                <a:solidFill>
                  <a:srgbClr val="0070C0"/>
                </a:solidFill>
              </a:rPr>
              <a:t>moderate volatility</a:t>
            </a:r>
            <a:r>
              <a:rPr lang="en-US" altLang="zh-CN" dirty="0"/>
              <a:t>, while </a:t>
            </a:r>
            <a:r>
              <a:rPr lang="en-US" altLang="zh-CN" dirty="0" err="1"/>
              <a:t>Portfolio.F</a:t>
            </a:r>
            <a:r>
              <a:rPr lang="en-US" altLang="zh-CN" dirty="0"/>
              <a:t> exhibits a </a:t>
            </a:r>
            <a:r>
              <a:rPr lang="en-US" altLang="zh-CN" dirty="0">
                <a:solidFill>
                  <a:srgbClr val="0070C0"/>
                </a:solidFill>
              </a:rPr>
              <a:t>higher mean </a:t>
            </a:r>
            <a:r>
              <a:rPr lang="en-US" altLang="zh-CN" dirty="0"/>
              <a:t>but also substantially </a:t>
            </a:r>
            <a:r>
              <a:rPr lang="en-US" altLang="zh-CN" dirty="0">
                <a:solidFill>
                  <a:srgbClr val="0070C0"/>
                </a:solidFill>
              </a:rPr>
              <a:t>larger standard deviation</a:t>
            </a:r>
            <a:r>
              <a:rPr lang="en-US" altLang="zh-CN" dirty="0"/>
              <a:t>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7" name="图形 6" descr="贷款 纯色填充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5411" y="1549170"/>
            <a:ext cx="1202574" cy="1202574"/>
          </a:xfrm>
          <a:prstGeom prst="rect">
            <a:avLst/>
          </a:prstGeom>
        </p:spPr>
      </p:pic>
      <p:pic>
        <p:nvPicPr>
          <p:cNvPr id="11" name="图形 10" descr="慈善 纯色填充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4906" y="2537422"/>
            <a:ext cx="1343429" cy="1343429"/>
          </a:xfrm>
          <a:prstGeom prst="rect">
            <a:avLst/>
          </a:prstGeom>
        </p:spPr>
      </p:pic>
      <p:pic>
        <p:nvPicPr>
          <p:cNvPr id="13" name="图形 12" descr="上升趋势 纯色填充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27555" y="175001"/>
            <a:ext cx="1459808" cy="145980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564447" y="1634809"/>
            <a:ext cx="3624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X1 – Market</a:t>
            </a:r>
          </a:p>
          <a:p>
            <a:pPr algn="ctr"/>
            <a:r>
              <a:rPr lang="en-US" altLang="zh-CN" dirty="0"/>
              <a:t>captures overall market return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702531" y="3933911"/>
            <a:ext cx="3092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X4 – RMW</a:t>
            </a:r>
          </a:p>
          <a:p>
            <a:pPr algn="ctr"/>
            <a:r>
              <a:rPr lang="en-US" altLang="zh-CN" dirty="0"/>
              <a:t>profitability premium factor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8902181" y="2719882"/>
            <a:ext cx="3000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Y</a:t>
            </a:r>
            <a:r>
              <a:rPr lang="zh-CN" altLang="en-US" b="1" dirty="0"/>
              <a:t>（</a:t>
            </a:r>
            <a:r>
              <a:rPr lang="en-US" altLang="zh-CN" b="1" dirty="0"/>
              <a:t>Portfolio F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algn="ctr"/>
            <a:r>
              <a:rPr lang="en-US" altLang="zh-CN" dirty="0"/>
              <a:t>monthly return of portfolio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698269" y="4256116"/>
            <a:ext cx="2884516" cy="324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64771" y="5153891"/>
            <a:ext cx="2726574" cy="32412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631767" y="6093229"/>
            <a:ext cx="2951018" cy="3209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3E59406C-B394-980E-CF42-2B71D4A946DC}"/>
              </a:ext>
            </a:extLst>
          </p:cNvPr>
          <p:cNvSpPr txBox="1">
            <a:spLocks/>
          </p:cNvSpPr>
          <p:nvPr/>
        </p:nvSpPr>
        <p:spPr>
          <a:xfrm>
            <a:off x="10185748" y="5927348"/>
            <a:ext cx="1876816" cy="8979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 err="1"/>
              <a:t>WangZhengyang</a:t>
            </a:r>
            <a:r>
              <a:rPr lang="en-US" altLang="zh-CN" sz="1600" b="1" dirty="0"/>
              <a:t> </a:t>
            </a:r>
          </a:p>
          <a:p>
            <a:pPr marL="0" indent="0">
              <a:buNone/>
            </a:pPr>
            <a:r>
              <a:rPr lang="en-US" altLang="zh-CN" sz="1600" b="1" dirty="0"/>
              <a:t>2330031281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249298"/>
            <a:ext cx="10858500" cy="953135"/>
          </a:xfrm>
        </p:spPr>
        <p:txBody>
          <a:bodyPr/>
          <a:lstStyle/>
          <a:p>
            <a:r>
              <a:rPr lang="en-US" dirty="0"/>
              <a:t>Problem3(a)-</a:t>
            </a:r>
            <a:br>
              <a:rPr lang="en-US" altLang="zh-CN" dirty="0"/>
            </a:br>
            <a:r>
              <a:rPr lang="en-US" altLang="zh-CN" dirty="0"/>
              <a:t>Fitted Regression Models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285798" y="4597052"/>
            <a:ext cx="451563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Both scatterplots show clear linear patterns: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 strong positive relationship with Market x1, and a weaker negative relationship with RMW x4.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47040" y="5803864"/>
            <a:ext cx="1668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" y="1551305"/>
            <a:ext cx="5446684" cy="320479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47040" y="6203974"/>
            <a:ext cx="6662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 shows a stronger and clearer linear trend than Model 2.</a:t>
            </a:r>
          </a:p>
        </p:txBody>
      </p:sp>
      <p:pic>
        <p:nvPicPr>
          <p:cNvPr id="4" name="图片 3" descr="文本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219" y="4779338"/>
            <a:ext cx="3862875" cy="100129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80902" y="4239491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 Output:</a:t>
            </a:r>
            <a:endParaRPr lang="zh-CN" altLang="en-US" b="1" dirty="0"/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36F40898-6EFB-4FBC-460A-45B32865F17A}"/>
              </a:ext>
            </a:extLst>
          </p:cNvPr>
          <p:cNvSpPr txBox="1">
            <a:spLocks/>
          </p:cNvSpPr>
          <p:nvPr/>
        </p:nvSpPr>
        <p:spPr>
          <a:xfrm>
            <a:off x="10185748" y="5927348"/>
            <a:ext cx="1876816" cy="8979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 err="1"/>
              <a:t>WangZhengyang</a:t>
            </a:r>
            <a:r>
              <a:rPr lang="en-US" altLang="zh-CN" sz="1600" b="1" dirty="0"/>
              <a:t> </a:t>
            </a:r>
          </a:p>
          <a:p>
            <a:pPr marL="0" indent="0">
              <a:buNone/>
            </a:pPr>
            <a:r>
              <a:rPr lang="en-US" altLang="zh-CN" sz="1600" b="1" dirty="0"/>
              <a:t>2330031281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73D170C-369F-2AEE-F6DB-E1EE37F62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8278" y="605063"/>
            <a:ext cx="5383605" cy="32680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2178"/>
            <a:ext cx="10858500" cy="521970"/>
          </a:xfrm>
        </p:spPr>
        <p:txBody>
          <a:bodyPr/>
          <a:lstStyle/>
          <a:p>
            <a:r>
              <a:rPr lang="en-US" altLang="zh-CN" dirty="0"/>
              <a:t>Problem 3(b) - Slope Significance Test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46" y="1685117"/>
            <a:ext cx="8021847" cy="2176708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634616"/>
              </p:ext>
            </p:extLst>
          </p:nvPr>
        </p:nvGraphicFramePr>
        <p:xfrm>
          <a:off x="1061085" y="3865881"/>
          <a:ext cx="9905454" cy="2253084"/>
        </p:xfrm>
        <a:graphic>
          <a:graphicData uri="http://schemas.openxmlformats.org/drawingml/2006/table">
            <a:tbl>
              <a:tblPr firstRow="1">
                <a:tableStyleId>{85BE263C-DBD7-4A20-BB59-AAB30ACAA65A}</a:tableStyleId>
              </a:tblPr>
              <a:tblGrid>
                <a:gridCol w="1650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0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0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0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510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Model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Slope (b)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SE(b)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t-value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p-value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Conclusion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0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y ~ x1 (Market)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1.0671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0.0437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24.3984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0.0000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Significant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0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y ~ x4 (RMW)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−0.9021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0.1153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−7.8245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0.0000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Significant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965657"/>
            <a:ext cx="5973009" cy="657317"/>
          </a:xfrm>
          <a:prstGeom prst="rect">
            <a:avLst/>
          </a:prstGeom>
        </p:spPr>
      </p:pic>
      <p:pic>
        <p:nvPicPr>
          <p:cNvPr id="9" name="图片 8" descr="图片包含 图示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112102"/>
            <a:ext cx="6134956" cy="76210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021782" y="432178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 Output:</a:t>
            </a:r>
            <a:endParaRPr lang="zh-CN" altLang="en-US" b="1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6E8FB6-8F4F-018B-6AA6-5617C9721F03}"/>
              </a:ext>
            </a:extLst>
          </p:cNvPr>
          <p:cNvSpPr txBox="1">
            <a:spLocks/>
          </p:cNvSpPr>
          <p:nvPr/>
        </p:nvSpPr>
        <p:spPr>
          <a:xfrm>
            <a:off x="10354140" y="6021293"/>
            <a:ext cx="1876816" cy="8979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 err="1"/>
              <a:t>WangZhengyang</a:t>
            </a:r>
            <a:r>
              <a:rPr lang="en-US" altLang="zh-CN" sz="1600" b="1" dirty="0"/>
              <a:t> </a:t>
            </a:r>
          </a:p>
          <a:p>
            <a:pPr marL="0" indent="0">
              <a:buNone/>
            </a:pPr>
            <a:r>
              <a:rPr lang="en-US" altLang="zh-CN" sz="1600" b="1" dirty="0"/>
              <a:t>2330031281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2178"/>
            <a:ext cx="10858500" cy="521970"/>
          </a:xfrm>
        </p:spPr>
        <p:txBody>
          <a:bodyPr/>
          <a:lstStyle/>
          <a:p>
            <a:r>
              <a:rPr lang="en-US" altLang="zh-CN" dirty="0"/>
              <a:t>Problem 3(b) - Slope Significance Test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743835" y="1289050"/>
            <a:ext cx="8380095" cy="26892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2000"/>
              <a:t>Both slopes are highly significant at the 5% level:</a:t>
            </a:r>
          </a:p>
          <a:p>
            <a:endParaRPr lang="en-US" altLang="zh-CN" sz="2000"/>
          </a:p>
          <a:p>
            <a:pPr indent="0">
              <a:buFont typeface="Arial" panose="020B0604020202090204"/>
              <a:buNone/>
            </a:pPr>
            <a:r>
              <a:rPr lang="en-US" altLang="zh-CN" sz="2000"/>
              <a:t>Market x1 has a strong positive effect on Portfolio F.</a:t>
            </a:r>
          </a:p>
          <a:p>
            <a:pPr>
              <a:buFont typeface="Arial" panose="020B0604020202090204"/>
              <a:buChar char="•"/>
            </a:pPr>
            <a:endParaRPr lang="en-US" altLang="zh-CN" sz="2000"/>
          </a:p>
          <a:p>
            <a:pPr indent="0">
              <a:buFont typeface="Arial" panose="020B0604020202090204"/>
              <a:buNone/>
            </a:pPr>
            <a:r>
              <a:rPr lang="en-US" altLang="zh-CN" sz="2000"/>
              <a:t>RMW x4 has a significant negative effect.</a:t>
            </a:r>
          </a:p>
          <a:p>
            <a:pPr indent="0">
              <a:buFont typeface="Arial" panose="020B0604020202090204"/>
              <a:buNone/>
            </a:pPr>
            <a:endParaRPr lang="en-US" altLang="zh-CN" sz="2000"/>
          </a:p>
          <a:p>
            <a:pPr indent="0">
              <a:buFont typeface="Arial" panose="020B0604020202090204"/>
              <a:buNone/>
            </a:pPr>
            <a:r>
              <a:rPr lang="en-US" altLang="zh-CN" sz="2000"/>
              <a:t>Thus, both factors are statistically meaningful, but x1 shows a much stronger effect (larger |t|).</a:t>
            </a: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025740"/>
              </p:ext>
            </p:extLst>
          </p:nvPr>
        </p:nvGraphicFramePr>
        <p:xfrm>
          <a:off x="891540" y="4015741"/>
          <a:ext cx="9298386" cy="249153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549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9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9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305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Model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Slope (b)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SE(b)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t-value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p-value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Conclusion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00"/>
                          </a:solidFill>
                        </a:rPr>
                        <a:t>y ~ x1 (Market)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0000"/>
                          </a:solidFill>
                        </a:rPr>
                        <a:t>1.0671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0000"/>
                          </a:solidFill>
                        </a:rPr>
                        <a:t>0.0437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24.3984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0.0000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Significant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y ~ x4 (RMW)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0000"/>
                          </a:solidFill>
                        </a:rPr>
                        <a:t>−0.9021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0000"/>
                          </a:solidFill>
                        </a:rPr>
                        <a:t>0.1153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0000"/>
                          </a:solidFill>
                        </a:rPr>
                        <a:t>−7.8245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0.0000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0000"/>
                          </a:solidFill>
                        </a:rPr>
                        <a:t>Significant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A2C55C-AADF-5092-8389-D71978324371}"/>
              </a:ext>
            </a:extLst>
          </p:cNvPr>
          <p:cNvSpPr txBox="1">
            <a:spLocks/>
          </p:cNvSpPr>
          <p:nvPr/>
        </p:nvSpPr>
        <p:spPr>
          <a:xfrm>
            <a:off x="10442531" y="6033723"/>
            <a:ext cx="1876816" cy="8979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 err="1"/>
              <a:t>WangZhengyang</a:t>
            </a:r>
            <a:r>
              <a:rPr lang="en-US" altLang="zh-CN" sz="1600" b="1" dirty="0"/>
              <a:t> </a:t>
            </a:r>
          </a:p>
          <a:p>
            <a:pPr marL="0" indent="0">
              <a:buNone/>
            </a:pPr>
            <a:r>
              <a:rPr lang="en-US" altLang="zh-CN" sz="1600" b="1" dirty="0"/>
              <a:t>2330031281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2178"/>
            <a:ext cx="10858500" cy="521970"/>
          </a:xfrm>
        </p:spPr>
        <p:txBody>
          <a:bodyPr/>
          <a:lstStyle/>
          <a:p>
            <a:r>
              <a:rPr lang="en-US" altLang="zh-CN" dirty="0"/>
              <a:t>Problem 3(c)-Model Comparison &amp; 95% Prediction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74370" y="1244990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6750" y="1807611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4448" y="1667812"/>
            <a:ext cx="6974127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We compare the two models using two criteria:</a:t>
            </a:r>
          </a:p>
          <a:p>
            <a:endParaRPr lang="en-US" altLang="zh-CN" dirty="0"/>
          </a:p>
          <a:p>
            <a:r>
              <a:rPr lang="en-US" altLang="zh-CN" dirty="0"/>
              <a:t>Correlation coefficient between y and x</a:t>
            </a:r>
          </a:p>
          <a:p>
            <a:endParaRPr lang="en-US" altLang="zh-CN" dirty="0"/>
          </a:p>
          <a:p>
            <a:r>
              <a:rPr lang="en-US" altLang="zh-CN" dirty="0"/>
              <a:t>R</a:t>
            </a:r>
            <a:r>
              <a:rPr lang="en-US" altLang="en-US" dirty="0"/>
              <a:t>²</a:t>
            </a:r>
            <a:r>
              <a:rPr lang="en-US" altLang="zh-CN" dirty="0"/>
              <a:t> from each simple regression</a:t>
            </a:r>
          </a:p>
          <a:p>
            <a:endParaRPr lang="en-US" altLang="zh-CN" dirty="0"/>
          </a:p>
          <a:p>
            <a:r>
              <a:rPr lang="en-US" altLang="zh-CN" dirty="0"/>
              <a:t>The model with stronger linear association will be used to compute:</a:t>
            </a:r>
          </a:p>
          <a:p>
            <a:endParaRPr lang="en-US" altLang="zh-CN" dirty="0"/>
          </a:p>
          <a:p>
            <a:r>
              <a:rPr lang="en-US" altLang="zh-CN" dirty="0"/>
              <a:t>95% Confidence Interval (CI) for the mean response</a:t>
            </a:r>
          </a:p>
          <a:p>
            <a:endParaRPr lang="en-US" altLang="zh-CN" dirty="0"/>
          </a:p>
          <a:p>
            <a:r>
              <a:rPr lang="en-US" altLang="zh-CN" dirty="0"/>
              <a:t>95% Prediction Interval (PI) for an individual response at x = 1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666750" y="4918930"/>
          <a:ext cx="7747000" cy="1520064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969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4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17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400" spc="120" dirty="0"/>
                        <a:t>Model</a:t>
                      </a:r>
                      <a:endParaRPr lang="en-US" altLang="zh-CN" sz="2400" spc="120" dirty="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400" spc="120" dirty="0"/>
                        <a:t>Corr(y, x)</a:t>
                      </a:r>
                      <a:endParaRPr lang="en-US" altLang="zh-CN" sz="2400" spc="120" dirty="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400" spc="120"/>
                        <a:t>R²</a:t>
                      </a:r>
                      <a:endParaRPr lang="en-US" altLang="zh-CN" sz="2400" spc="12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/>
                        <a:t>y ~ x1 (Market)</a:t>
                      </a:r>
                      <a:endParaRPr lang="en-US" altLang="zh-CN" sz="200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/>
                        <a:t>0.7406</a:t>
                      </a:r>
                      <a:endParaRPr lang="en-US" altLang="zh-CN" sz="200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/>
                        <a:t>0.5485</a:t>
                      </a:r>
                      <a:endParaRPr lang="en-US" altLang="zh-CN" sz="200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/>
                        <a:t>y ~ x4 (RMW)</a:t>
                      </a:r>
                      <a:endParaRPr lang="en-US" altLang="zh-CN" sz="200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/>
                        <a:t>−0.3333</a:t>
                      </a:r>
                      <a:endParaRPr lang="en-US" altLang="zh-CN" sz="200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 dirty="0"/>
                        <a:t>0.1111</a:t>
                      </a:r>
                      <a:endParaRPr lang="en-US" altLang="zh-CN" sz="2000" dirty="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991920" y="4909297"/>
            <a:ext cx="42000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Arial Bold" panose="020B0604020202090204" charset="0"/>
                <a:cs typeface="Arial Bold" panose="020B0604020202090204" charset="0"/>
              </a:rPr>
              <a:t>Model 1 (Market) has a much stronger association → selected as the better model.</a:t>
            </a:r>
          </a:p>
        </p:txBody>
      </p:sp>
      <p:pic>
        <p:nvPicPr>
          <p:cNvPr id="10" name="图片 9" descr="箭头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598406">
            <a:off x="7466820" y="3638866"/>
            <a:ext cx="1739438" cy="1742625"/>
          </a:xfrm>
          <a:prstGeom prst="rect">
            <a:avLst/>
          </a:prstGeom>
        </p:spPr>
      </p:pic>
      <p:pic>
        <p:nvPicPr>
          <p:cNvPr id="9" name="图片 8" descr="图片包含 日历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232" y="1370425"/>
            <a:ext cx="3619310" cy="761425"/>
          </a:xfrm>
          <a:prstGeom prst="rect">
            <a:avLst/>
          </a:prstGeom>
        </p:spPr>
      </p:pic>
      <p:pic>
        <p:nvPicPr>
          <p:cNvPr id="12" name="图片 11" descr="文本, 信件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232" y="2152301"/>
            <a:ext cx="3431229" cy="122011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608618" y="5503025"/>
            <a:ext cx="1521229" cy="9227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054232" y="954148"/>
            <a:ext cx="130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 Output:</a:t>
            </a:r>
            <a:endParaRPr lang="zh-CN" altLang="en-US" b="1" dirty="0"/>
          </a:p>
        </p:txBody>
      </p:sp>
      <p:sp>
        <p:nvSpPr>
          <p:cNvPr id="7" name="文本占位符 3">
            <a:extLst>
              <a:ext uri="{FF2B5EF4-FFF2-40B4-BE49-F238E27FC236}">
                <a16:creationId xmlns:a16="http://schemas.microsoft.com/office/drawing/2014/main" id="{6B2B8584-0EB1-A6D1-E6D8-263B8BEB1B1E}"/>
              </a:ext>
            </a:extLst>
          </p:cNvPr>
          <p:cNvSpPr txBox="1">
            <a:spLocks/>
          </p:cNvSpPr>
          <p:nvPr/>
        </p:nvSpPr>
        <p:spPr>
          <a:xfrm>
            <a:off x="10185748" y="5927348"/>
            <a:ext cx="1876816" cy="8979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 err="1"/>
              <a:t>WangZhengyang</a:t>
            </a:r>
            <a:r>
              <a:rPr lang="en-US" altLang="zh-CN" sz="1600" b="1" dirty="0"/>
              <a:t> </a:t>
            </a:r>
          </a:p>
          <a:p>
            <a:pPr marL="0" indent="0">
              <a:buNone/>
            </a:pPr>
            <a:r>
              <a:rPr lang="en-US" altLang="zh-CN" sz="1600" b="1" dirty="0"/>
              <a:t>2330031281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2178"/>
            <a:ext cx="10858500" cy="521970"/>
          </a:xfrm>
        </p:spPr>
        <p:txBody>
          <a:bodyPr/>
          <a:lstStyle/>
          <a:p>
            <a:r>
              <a:rPr lang="en-US" altLang="zh-CN" dirty="0"/>
              <a:t>Problem 3(c)-Model Comparison &amp; 95% Prediction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66750" y="1807611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27" name="Picture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337" y="1132665"/>
            <a:ext cx="4173465" cy="333877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311647" y="1192058"/>
            <a:ext cx="7305213" cy="30386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endParaRPr lang="en-US" altLang="zh-CN" sz="2800" b="1" dirty="0"/>
          </a:p>
          <a:p>
            <a:pPr>
              <a:spcAft>
                <a:spcPct val="60000"/>
              </a:spcAft>
            </a:pPr>
            <a:endParaRPr lang="en-US" altLang="zh-CN" sz="2800" b="1" dirty="0"/>
          </a:p>
          <a:p>
            <a:pPr>
              <a:spcAft>
                <a:spcPct val="60000"/>
              </a:spcAft>
            </a:pPr>
            <a:r>
              <a:rPr lang="en-US" altLang="zh-CN" sz="2000" b="1" dirty="0"/>
              <a:t>Conclusion</a:t>
            </a:r>
          </a:p>
          <a:p>
            <a:pPr indent="0">
              <a:buFont typeface="Arial" panose="020B0604020202090204"/>
              <a:buNone/>
            </a:pPr>
            <a:r>
              <a:rPr lang="en-US" altLang="zh-CN" dirty="0"/>
              <a:t>Market factor x1 provides the best explanatory power for Portfolio F.</a:t>
            </a:r>
          </a:p>
          <a:p>
            <a:pPr indent="0">
              <a:buFont typeface="Arial" panose="020B0604020202090204"/>
              <a:buNone/>
            </a:pPr>
            <a:r>
              <a:rPr lang="en-US" altLang="zh-CN" dirty="0"/>
              <a:t>Expected return at x₁ = 1 is about 1.96.</a:t>
            </a:r>
          </a:p>
          <a:p>
            <a:pPr indent="0">
              <a:buFont typeface="Arial" panose="020B0604020202090204"/>
              <a:buNone/>
            </a:pPr>
            <a:endParaRPr lang="en-US" altLang="zh-CN" dirty="0"/>
          </a:p>
          <a:p>
            <a:pPr indent="0">
              <a:buFont typeface="Arial" panose="020B0604020202090204"/>
              <a:buNone/>
            </a:pPr>
            <a:r>
              <a:rPr lang="en-US" altLang="zh-CN" dirty="0"/>
              <a:t>The 95% CI is narrow (precise estimation for the mean), while the 95% PI is much wider, reflecting variability in future individual returns.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93364" y="1192058"/>
            <a:ext cx="7043020" cy="16068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</a:p>
          <a:p>
            <a:pPr>
              <a:lnSpc>
                <a:spcPts val="2400"/>
              </a:lnSpc>
            </a:pPr>
            <a:r>
              <a:rPr lang="en-US" altLang="zh-CN" dirty="0"/>
              <a:t>Because we use the same model as in Question 1 to compute the 95% prediction interval, the procedure and results are identical, so no further explanation is provided here.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4557" y="4607867"/>
            <a:ext cx="9479713" cy="18408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 of Problem 3</a:t>
            </a:r>
          </a:p>
          <a:p>
            <a:pPr lvl="0">
              <a:lnSpc>
                <a:spcPts val="2300"/>
              </a:lnSpc>
            </a:pPr>
            <a:r>
              <a:rPr lang="en-US" altLang="zh-CN" dirty="0"/>
              <a:t>Both Market.x1 and RMW.x4 exhibit clear linear relationships with </a:t>
            </a:r>
            <a:r>
              <a:rPr lang="en-US" altLang="zh-CN" dirty="0" err="1"/>
              <a:t>Portfolio.F</a:t>
            </a:r>
            <a:r>
              <a:rPr lang="en-US" altLang="zh-CN" dirty="0"/>
              <a:t>, as shown by the fitted regression lines and scatterplots. Market.x1 has a strong positive effect on </a:t>
            </a:r>
            <a:r>
              <a:rPr lang="en-US" altLang="zh-CN" dirty="0" err="1"/>
              <a:t>Portfolio.F</a:t>
            </a:r>
            <a:r>
              <a:rPr lang="en-US" altLang="zh-CN" dirty="0"/>
              <a:t>, while RMW.x4 shows a weaker negative effect. Overall, Model 1 demonstrates a stronger and more pronounced linear pattern than Model 2, indicating higher explanatory power for </a:t>
            </a:r>
            <a:r>
              <a:rPr lang="en-US" altLang="zh-CN" dirty="0" err="1"/>
              <a:t>Portfolio.F</a:t>
            </a:r>
            <a:r>
              <a:rPr lang="en-US" altLang="zh-CN" dirty="0"/>
              <a:t>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86953E78-118F-C7C8-6E2E-DE3EBFC3F8E7}"/>
              </a:ext>
            </a:extLst>
          </p:cNvPr>
          <p:cNvSpPr txBox="1">
            <a:spLocks/>
          </p:cNvSpPr>
          <p:nvPr/>
        </p:nvSpPr>
        <p:spPr>
          <a:xfrm>
            <a:off x="10185748" y="5927348"/>
            <a:ext cx="1876816" cy="8979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 err="1"/>
              <a:t>WangZhengyang</a:t>
            </a:r>
            <a:r>
              <a:rPr lang="en-US" altLang="zh-CN" sz="1600" b="1" dirty="0"/>
              <a:t> </a:t>
            </a:r>
          </a:p>
          <a:p>
            <a:pPr marL="0" indent="0">
              <a:buNone/>
            </a:pPr>
            <a:r>
              <a:rPr lang="en-US" altLang="zh-CN" sz="1600" b="1" dirty="0"/>
              <a:t>2330031281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en-US" altLang="zh-CN" sz="36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26967" y="5095721"/>
            <a:ext cx="5877156" cy="810301"/>
          </a:xfrm>
        </p:spPr>
        <p:txBody>
          <a:bodyPr>
            <a:normAutofit/>
          </a:bodyPr>
          <a:lstStyle/>
          <a:p>
            <a:r>
              <a:rPr lang="en-US" altLang="zh-CN" sz="1600" dirty="0"/>
              <a:t>Li </a:t>
            </a:r>
            <a:r>
              <a:rPr lang="en-US" altLang="zh-CN" sz="1600" dirty="0" err="1"/>
              <a:t>Dazheng</a:t>
            </a:r>
            <a:r>
              <a:rPr lang="en-US" altLang="zh-CN" sz="1600" dirty="0"/>
              <a:t> </a:t>
            </a:r>
          </a:p>
          <a:p>
            <a:r>
              <a:rPr lang="en-US" altLang="zh-CN" sz="1600" dirty="0"/>
              <a:t>2230005026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39520" y="3898265"/>
            <a:ext cx="4763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Market Factor (x1) vs </a:t>
            </a:r>
            <a:r>
              <a:rPr lang="en-US" altLang="zh-CN" dirty="0">
                <a:solidFill>
                  <a:srgbClr val="000000"/>
                </a:solidFill>
                <a:latin typeface="Arial" panose="020B0604020202090204"/>
                <a:ea typeface="微软雅黑"/>
              </a:rPr>
              <a:t>CMA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Factor (x5)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05" y="4414520"/>
            <a:ext cx="7558405" cy="10236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2044" y="144049"/>
            <a:ext cx="2874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Problem 4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2186" y="2020798"/>
            <a:ext cx="3269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Question Background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75776" y="2390130"/>
            <a:ext cx="8657572" cy="1914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In this analysis, we used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492 monthly observations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to perform a regression analysis on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 F (y)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with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Market x1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and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CMA x5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as predictors. The main objective of this analysis is to assess whether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Market x1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and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CMA x5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significantly impact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 F (y)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and to compare the performance of the two models. We will conduct regression analysis using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(y ~ x1) and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(y ~ x5), and compare the models based on the regression results and prediction intervals.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AEB88346-4784-ADAB-B3C5-3558D3156061}"/>
              </a:ext>
            </a:extLst>
          </p:cNvPr>
          <p:cNvSpPr txBox="1">
            <a:spLocks/>
          </p:cNvSpPr>
          <p:nvPr/>
        </p:nvSpPr>
        <p:spPr>
          <a:xfrm>
            <a:off x="10802907" y="5866072"/>
            <a:ext cx="1503915" cy="8103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/>
              <a:t>Li </a:t>
            </a:r>
            <a:r>
              <a:rPr lang="en-US" altLang="zh-CN" sz="1600" b="1" dirty="0" err="1"/>
              <a:t>Dazheng</a:t>
            </a:r>
            <a:r>
              <a:rPr lang="en-US" altLang="zh-CN" sz="1600" b="1" dirty="0"/>
              <a:t> </a:t>
            </a:r>
          </a:p>
          <a:p>
            <a:pPr marL="0" indent="0">
              <a:buNone/>
            </a:pPr>
            <a:r>
              <a:rPr lang="en-US" altLang="zh-CN" sz="1600" b="1" dirty="0"/>
              <a:t>2230005026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 4 Regression Equation Estimates (a)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944196" y="1420653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0016" y="1947995"/>
            <a:ext cx="57278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We used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Ordinary Least Squares (OLS)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regression to analyze the relationship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between the predictors (x1, x5)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and the dependent variable (y).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50" y="3749108"/>
            <a:ext cx="4571429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897" y="2659996"/>
            <a:ext cx="3509703" cy="3416320"/>
          </a:xfrm>
          <a:prstGeom prst="rect">
            <a:avLst/>
          </a:prstGeom>
        </p:spPr>
      </p:pic>
      <p:pic>
        <p:nvPicPr>
          <p:cNvPr id="13" name="图片 12" descr="文本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760" y="2606863"/>
            <a:ext cx="2878078" cy="346934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15102" y="2055091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8F8CE9CB-519D-880D-4D24-0ACCD5C46643}"/>
              </a:ext>
            </a:extLst>
          </p:cNvPr>
          <p:cNvSpPr txBox="1">
            <a:spLocks/>
          </p:cNvSpPr>
          <p:nvPr/>
        </p:nvSpPr>
        <p:spPr>
          <a:xfrm>
            <a:off x="10802907" y="5866072"/>
            <a:ext cx="1503915" cy="8103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/>
              <a:t>Li </a:t>
            </a:r>
            <a:r>
              <a:rPr lang="en-US" altLang="zh-CN" sz="1600" b="1" dirty="0" err="1"/>
              <a:t>Dazheng</a:t>
            </a:r>
            <a:r>
              <a:rPr lang="en-US" altLang="zh-CN" sz="1600" b="1" dirty="0"/>
              <a:t> </a:t>
            </a:r>
          </a:p>
          <a:p>
            <a:pPr marL="0" indent="0">
              <a:buNone/>
            </a:pPr>
            <a:r>
              <a:rPr lang="en-US" altLang="zh-CN" sz="1600" b="1" dirty="0"/>
              <a:t>2230005026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 4(a) R Output</a:t>
            </a:r>
            <a:endParaRPr lang="en-US" dirty="0"/>
          </a:p>
        </p:txBody>
      </p:sp>
      <p:sp>
        <p:nvSpPr>
          <p:cNvPr id="5" name="AutoShape 2" descr="已上传的图片"/>
          <p:cNvSpPr>
            <a:spLocks noChangeAspect="1" noChangeArrowheads="1"/>
          </p:cNvSpPr>
          <p:nvPr/>
        </p:nvSpPr>
        <p:spPr bwMode="auto">
          <a:xfrm>
            <a:off x="2870200" y="0"/>
            <a:ext cx="6451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16" name="图片 15" descr="图形用户界面&#10;&#10;AI 生成的内容可能不正确。"/>
          <p:cNvPicPr>
            <a:picLocks noChangeAspect="1"/>
          </p:cNvPicPr>
          <p:nvPr/>
        </p:nvPicPr>
        <p:blipFill>
          <a:blip r:embed="rId2"/>
          <a:srcRect t="82943"/>
          <a:stretch>
            <a:fillRect/>
          </a:stretch>
        </p:blipFill>
        <p:spPr>
          <a:xfrm>
            <a:off x="2870200" y="1725441"/>
            <a:ext cx="8845739" cy="1547121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87818" y="1277556"/>
            <a:ext cx="6094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output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Intercept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= 0.89419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Slope (x1)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= 1.06707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07430" y="2844963"/>
            <a:ext cx="6094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2 output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Intercept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= 1.7566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Slope (x5)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= -0.9348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26301" y="4384110"/>
                <a:ext cx="701457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altLang="zh-CN" b="1" dirty="0">
                    <a:solidFill>
                      <a:srgbClr val="000000"/>
                    </a:solidFill>
                  </a:rPr>
                  <a:t>Conclusion</a:t>
                </a:r>
              </a:p>
              <a:p>
                <a:pPr lvl="0">
                  <a:defRPr/>
                </a:pPr>
                <a:r>
                  <a:rPr lang="en-US" altLang="zh-CN" dirty="0">
                    <a:solidFill>
                      <a:srgbClr val="000000"/>
                    </a:solidFill>
                  </a:rPr>
                  <a:t>So the lines are:</a:t>
                </a:r>
              </a:p>
              <a:p>
                <a:pPr lvl="0">
                  <a:defRPr/>
                </a:pPr>
                <a:endParaRPr lang="en-US" altLang="zh-CN" dirty="0">
                  <a:solidFill>
                    <a:srgbClr val="000000"/>
                  </a:solidFill>
                </a:endParaRPr>
              </a:p>
              <a:p>
                <a:pPr lvl="0">
                  <a:defRPr/>
                </a:pPr>
                <a:r>
                  <a:rPr lang="en-US" altLang="zh-CN" b="1" dirty="0">
                    <a:solidFill>
                      <a:srgbClr val="000000"/>
                    </a:solidFill>
                  </a:rPr>
                  <a:t>Model 1 </a:t>
                </a: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𝟎𝟔𝟕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𝟖𝟗𝟒</m:t>
                      </m:r>
                    </m:oMath>
                  </m:oMathPara>
                </a14:m>
                <a:endParaRPr lang="en-US" altLang="zh-CN" b="1" i="1" dirty="0">
                  <a:solidFill>
                    <a:srgbClr val="0070C0"/>
                  </a:solidFill>
                </a:endParaRPr>
              </a:p>
              <a:p>
                <a:pPr lvl="0">
                  <a:defRPr/>
                </a:pPr>
                <a:r>
                  <a:rPr lang="en-US" altLang="zh-CN" b="1" dirty="0">
                    <a:solidFill>
                      <a:srgbClr val="000000"/>
                    </a:solidFill>
                  </a:rPr>
                  <a:t>Model 2</a:t>
                </a:r>
              </a:p>
              <a:p>
                <a:pPr lvl="0">
                  <a:defRPr/>
                </a:pPr>
                <a:r>
                  <a:rPr lang="en-US" altLang="zh-CN" b="1" dirty="0">
                    <a:solidFill>
                      <a:srgbClr val="000000"/>
                    </a:solidFill>
                  </a:rPr>
                  <a:t>		  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𝟗𝟑𝟓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𝟕𝟓𝟕</m:t>
                    </m:r>
                  </m:oMath>
                </a14:m>
                <a:endParaRPr lang="zh-CN" altLang="en-US" b="1" dirty="0">
                  <a:solidFill>
                    <a:srgbClr val="000000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301" y="4384110"/>
                <a:ext cx="7014576" cy="2308324"/>
              </a:xfrm>
              <a:prstGeom prst="rect">
                <a:avLst/>
              </a:prstGeom>
              <a:blipFill rotWithShape="1">
                <a:blip r:embed="rId3"/>
                <a:stretch>
                  <a:fillRect l="-3" t="-3" r="8" b="-1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635CD9-0002-A4D1-AF94-7055EF0268D2}"/>
              </a:ext>
            </a:extLst>
          </p:cNvPr>
          <p:cNvSpPr txBox="1">
            <a:spLocks/>
          </p:cNvSpPr>
          <p:nvPr/>
        </p:nvSpPr>
        <p:spPr>
          <a:xfrm>
            <a:off x="10802907" y="5866072"/>
            <a:ext cx="1503915" cy="8103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/>
              <a:t>Li </a:t>
            </a:r>
            <a:r>
              <a:rPr lang="en-US" altLang="zh-CN" sz="1600" b="1" dirty="0" err="1"/>
              <a:t>Dazheng</a:t>
            </a:r>
            <a:r>
              <a:rPr lang="en-US" altLang="zh-CN" sz="1600" b="1" dirty="0"/>
              <a:t> </a:t>
            </a:r>
          </a:p>
          <a:p>
            <a:pPr marL="0" indent="0">
              <a:buNone/>
            </a:pPr>
            <a:r>
              <a:rPr lang="en-US" altLang="zh-CN" sz="1600" b="1" dirty="0"/>
              <a:t>2230005026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 4 (a) Regression Plot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66750" y="1807611"/>
            <a:ext cx="57278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As CMA.x5 increases, Portfolio F decreases, indicating a 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negative correlation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between x5 and Portfolio 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As Market.x1 increases, Portfolio F also shows an upward trend, suggesting 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positive linear correlation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between the two variables.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 (y ~ x1)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: The regression line is blue, indicating a 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positive relationship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between Market.x1 and Portfolio F. Specifically, the larger the value of x1, the higher the Portfolio F.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2 (y ~ x5)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: The regression line is red, indicating a 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negative relationship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between CMA.x5 and Portfolio F. Specifically, the larger the value of x5, the lower the Portfolio F.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7" name="图片 6" descr="图表, 散点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435" y="2565386"/>
            <a:ext cx="6614565" cy="431854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589222" y="2262101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380" y="431165"/>
            <a:ext cx="3767455" cy="2141220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74D5A3E3-58A6-1753-6EA0-6E0C3764E200}"/>
              </a:ext>
            </a:extLst>
          </p:cNvPr>
          <p:cNvSpPr txBox="1">
            <a:spLocks/>
          </p:cNvSpPr>
          <p:nvPr/>
        </p:nvSpPr>
        <p:spPr>
          <a:xfrm>
            <a:off x="293570" y="5941228"/>
            <a:ext cx="1503915" cy="8103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/>
              <a:t>Li </a:t>
            </a:r>
            <a:r>
              <a:rPr lang="en-US" altLang="zh-CN" sz="1600" b="1" dirty="0" err="1"/>
              <a:t>Dazheng</a:t>
            </a:r>
            <a:r>
              <a:rPr lang="en-US" altLang="zh-CN" sz="1600" b="1" dirty="0"/>
              <a:t> </a:t>
            </a:r>
          </a:p>
          <a:p>
            <a:pPr marL="0" indent="0">
              <a:buNone/>
            </a:pPr>
            <a:r>
              <a:rPr lang="en-US" altLang="zh-CN" sz="1600" b="1" dirty="0"/>
              <a:t>2230005026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dirty="0"/>
              <a:t>Problem Hypothesis Testing(b)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68300" y="1277386"/>
                <a:ext cx="5727874" cy="4651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1 Hypothesis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: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:</m:t>
                    </m:r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(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No significant effect of x1 on y)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:</m:t>
                    </m:r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≠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(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Significant effect of x1 on y)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The p-value for x1 is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2.2×10</a:t>
                </a:r>
                <a:r>
                  <a:rPr kumimoji="0" lang="en-US" altLang="zh-CN" sz="18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-16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which is extremely small. This result is statistically significant, so we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old" panose="020B0604020202090204" charset="0"/>
                    <a:ea typeface="微软雅黑"/>
                    <a:cs typeface="Arial Bold" panose="020B0604020202090204" charset="0"/>
                  </a:rPr>
                  <a:t>reject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the H0.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2 Hypothesis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: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:</m:t>
                    </m:r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5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(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No significant effect of x5 on y)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:</m:t>
                    </m:r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5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≠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(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Significant effect of x5 on y)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The p-value for x5 is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1.45×10</a:t>
                </a:r>
                <a:r>
                  <a:rPr kumimoji="0" lang="en-US" altLang="zh-CN" sz="18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−12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which is extremely small. This result is statistically significant, so we reject the H0.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Conclusion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: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Both models show that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x1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and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x5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have a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significant effect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on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Portfolio F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1277386"/>
                <a:ext cx="5727874" cy="4651375"/>
              </a:xfrm>
              <a:prstGeom prst="rect">
                <a:avLst/>
              </a:prstGeom>
              <a:blipFill rotWithShape="1">
                <a:blip r:embed="rId2"/>
                <a:stretch>
                  <a:fillRect t="-9" r="3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6172200" y="1277386"/>
            <a:ext cx="5727874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t-value Test: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1: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The t-value of x1 is 24.398, indicating that x1 has a significant impact on 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2: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The t-value of x5 is -7.268, indicating that x5 has a significant impact on 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13" name="图片 12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611" y="3603073"/>
            <a:ext cx="6096000" cy="224017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238500"/>
            <a:ext cx="1473200" cy="381000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71840DCD-D604-9391-8964-C4782BC0D7DA}"/>
              </a:ext>
            </a:extLst>
          </p:cNvPr>
          <p:cNvSpPr txBox="1">
            <a:spLocks/>
          </p:cNvSpPr>
          <p:nvPr/>
        </p:nvSpPr>
        <p:spPr>
          <a:xfrm>
            <a:off x="10802907" y="5866072"/>
            <a:ext cx="1503915" cy="8103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/>
              <a:t>Li </a:t>
            </a:r>
            <a:r>
              <a:rPr lang="en-US" altLang="zh-CN" sz="1600" b="1" dirty="0" err="1"/>
              <a:t>Dazheng</a:t>
            </a:r>
            <a:r>
              <a:rPr lang="en-US" altLang="zh-CN" sz="1600" b="1" dirty="0"/>
              <a:t> </a:t>
            </a:r>
          </a:p>
          <a:p>
            <a:pPr marL="0" indent="0">
              <a:buNone/>
            </a:pPr>
            <a:r>
              <a:rPr lang="en-US" altLang="zh-CN" sz="1600" b="1" dirty="0"/>
              <a:t>2230005026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 Confidence and Prediction Intervals (c)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66958" y="1231543"/>
            <a:ext cx="7043020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Selection: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has a higher correlation coefficient (0.7406) compared to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(-0.3119). Therefore, we choose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as the better model, since it has a stronger linear relationship between the predictor (x1) and the dependent variable (y).</a:t>
            </a:r>
          </a:p>
        </p:txBody>
      </p:sp>
      <p:pic>
        <p:nvPicPr>
          <p:cNvPr id="5" name="图片 4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760" y="1025645"/>
            <a:ext cx="4683760" cy="1983803"/>
          </a:xfrm>
          <a:prstGeom prst="rect">
            <a:avLst/>
          </a:prstGeom>
        </p:spPr>
      </p:pic>
      <p:pic>
        <p:nvPicPr>
          <p:cNvPr id="7" name="图片 6" descr="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265" y="3429000"/>
            <a:ext cx="3094990" cy="25615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6958" y="2866714"/>
            <a:ext cx="7043020" cy="16068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</a:p>
          <a:p>
            <a:pPr>
              <a:lnSpc>
                <a:spcPts val="2400"/>
              </a:lnSpc>
            </a:pPr>
            <a:r>
              <a:rPr lang="en-US" altLang="zh-CN" dirty="0"/>
              <a:t>Because we use the same model as in Question 1 to compute the 95% prediction interval, the procedure and results are identical, so no further explanation is provided here.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958" y="4331723"/>
            <a:ext cx="694130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</a:p>
          <a:p>
            <a:pPr indent="0">
              <a:buFont typeface="Arial" panose="020B0604020202090204"/>
              <a:buNone/>
            </a:pPr>
            <a:r>
              <a:rPr lang="en-US" altLang="zh-CN" sz="2000" dirty="0"/>
              <a:t>Market </a:t>
            </a:r>
            <a:r>
              <a:rPr lang="en-US" altLang="zh-CN" sz="2000" dirty="0">
                <a:solidFill>
                  <a:srgbClr val="0070C0"/>
                </a:solidFill>
              </a:rPr>
              <a:t>factor x1 </a:t>
            </a:r>
            <a:r>
              <a:rPr lang="en-US" altLang="zh-CN" sz="2000" dirty="0"/>
              <a:t>provides the best explanatory power for Portfolio F.</a:t>
            </a:r>
          </a:p>
          <a:p>
            <a:pPr indent="0">
              <a:buFont typeface="Arial" panose="020B0604020202090204"/>
              <a:buNone/>
            </a:pPr>
            <a:r>
              <a:rPr lang="en-US" altLang="zh-CN" sz="2000" dirty="0"/>
              <a:t>Expected return at x₁ = 1 is about 1.96.</a:t>
            </a:r>
          </a:p>
          <a:p>
            <a:pPr indent="0">
              <a:buFont typeface="Arial" panose="020B0604020202090204"/>
              <a:buNone/>
            </a:pPr>
            <a:r>
              <a:rPr lang="en-US" altLang="zh-CN" sz="2000" dirty="0"/>
              <a:t>The 95% CI is narrow (precise estimation for the mean), while the 95% PI is much wider, reflecting variability in future individual returns.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35327" y="3052227"/>
            <a:ext cx="9479713" cy="18408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 of Problem 4</a:t>
            </a:r>
          </a:p>
          <a:p>
            <a:pPr lvl="0">
              <a:lnSpc>
                <a:spcPts val="2300"/>
              </a:lnSpc>
            </a:pPr>
            <a:r>
              <a:rPr lang="en-US" altLang="zh-CN" dirty="0"/>
              <a:t>Both Market.x1 and CMA.x5 exhibit clear linear relationships with </a:t>
            </a:r>
            <a:r>
              <a:rPr lang="en-US" altLang="zh-CN" dirty="0" err="1"/>
              <a:t>Portfolio.F</a:t>
            </a:r>
            <a:r>
              <a:rPr lang="en-US" altLang="zh-CN" dirty="0"/>
              <a:t>, as shown by the fitted regression lines and scatterplots. Market.x1 has a </a:t>
            </a:r>
            <a:r>
              <a:rPr lang="en-US" altLang="zh-CN" dirty="0">
                <a:solidFill>
                  <a:srgbClr val="0070C0"/>
                </a:solidFill>
              </a:rPr>
              <a:t>strong positive effect </a:t>
            </a:r>
            <a:r>
              <a:rPr lang="en-US" altLang="zh-CN" dirty="0"/>
              <a:t>on </a:t>
            </a:r>
            <a:r>
              <a:rPr lang="en-US" altLang="zh-CN" dirty="0" err="1"/>
              <a:t>Portfolio.F</a:t>
            </a:r>
            <a:r>
              <a:rPr lang="en-US" altLang="zh-CN" dirty="0"/>
              <a:t>, while CMA.x5 shows a </a:t>
            </a:r>
            <a:r>
              <a:rPr lang="en-US" altLang="zh-CN" dirty="0">
                <a:solidFill>
                  <a:srgbClr val="0070C0"/>
                </a:solidFill>
              </a:rPr>
              <a:t>weaker negative effect</a:t>
            </a:r>
            <a:r>
              <a:rPr lang="en-US" altLang="zh-CN" dirty="0"/>
              <a:t>. Overall, </a:t>
            </a:r>
            <a:r>
              <a:rPr lang="en-US" altLang="zh-CN" dirty="0">
                <a:solidFill>
                  <a:srgbClr val="0070C0"/>
                </a:solidFill>
              </a:rPr>
              <a:t>Model 1</a:t>
            </a:r>
            <a:r>
              <a:rPr lang="en-US" altLang="zh-CN" dirty="0"/>
              <a:t> demonstrates a stronger and more pronounced linear pattern than Model 2, indicating higher explanatory power for </a:t>
            </a:r>
            <a:r>
              <a:rPr lang="en-US" altLang="zh-CN" dirty="0" err="1"/>
              <a:t>Portfolio.F</a:t>
            </a:r>
            <a:r>
              <a:rPr lang="en-US" altLang="zh-CN" dirty="0"/>
              <a:t>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7E23FBCA-F39E-AEA8-5506-D7ABDB076678}"/>
              </a:ext>
            </a:extLst>
          </p:cNvPr>
          <p:cNvSpPr txBox="1">
            <a:spLocks/>
          </p:cNvSpPr>
          <p:nvPr/>
        </p:nvSpPr>
        <p:spPr>
          <a:xfrm>
            <a:off x="10802907" y="5866072"/>
            <a:ext cx="1503915" cy="8103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/>
              <a:t>Li </a:t>
            </a:r>
            <a:r>
              <a:rPr lang="en-US" altLang="zh-CN" sz="1600" b="1" dirty="0" err="1"/>
              <a:t>Dazheng</a:t>
            </a:r>
            <a:r>
              <a:rPr lang="en-US" altLang="zh-CN" sz="1600" b="1" dirty="0"/>
              <a:t> </a:t>
            </a:r>
          </a:p>
          <a:p>
            <a:pPr marL="0" indent="0">
              <a:buNone/>
            </a:pPr>
            <a:r>
              <a:rPr lang="en-US" altLang="zh-CN" sz="1600" b="1" dirty="0"/>
              <a:t>2230005026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en-US" altLang="zh-CN" dirty="0"/>
              <a:t>Problem</a:t>
            </a:r>
            <a:r>
              <a:rPr lang="en-US" altLang="zh-CN" dirty="0">
                <a:effectLst/>
              </a:rPr>
              <a:t> 5</a:t>
            </a:r>
            <a:endParaRPr lang="zh-CN" altLang="zh-CN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 hasCustomPrompt="1"/>
              </p:nvPr>
            </p:nvSpPr>
            <p:spPr>
              <a:xfrm>
                <a:off x="1348668" y="3765149"/>
                <a:ext cx="6489540" cy="872982"/>
              </a:xfrm>
            </p:spPr>
            <p:txBody>
              <a:bodyPr/>
              <a:lstStyle/>
              <a:p>
                <a:r>
                  <a:rPr lang="en-US" altLang="zh-CN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Market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 </a:t>
                </a:r>
                <a:r>
                  <a:rPr lang="en-US" altLang="zh-CN" sz="24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VS</a:t>
                </a:r>
                <a:r>
                  <a:rPr lang="en-US" altLang="zh-CN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 rf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zh-CN" altLang="zh-CN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 hasCustomPrompt="1"/>
              </p:nvPr>
            </p:nvSpPr>
            <p:spPr>
              <a:xfrm>
                <a:off x="1348668" y="3765149"/>
                <a:ext cx="6489540" cy="872982"/>
              </a:xfrm>
              <a:blipFill rotWithShape="1">
                <a:blip r:embed="rId2"/>
                <a:stretch>
                  <a:fillRect l="-9" t="-27" r="6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48668" y="4750865"/>
            <a:ext cx="5877156" cy="1308263"/>
          </a:xfrm>
        </p:spPr>
        <p:txBody>
          <a:bodyPr>
            <a:normAutofit/>
          </a:bodyPr>
          <a:lstStyle/>
          <a:p>
            <a:r>
              <a:rPr lang="en-US" altLang="zh-CN" sz="1600" dirty="0"/>
              <a:t>WANG</a:t>
            </a:r>
            <a:r>
              <a:rPr lang="zh-CN" altLang="en-US" sz="1600" dirty="0"/>
              <a:t> </a:t>
            </a:r>
            <a:r>
              <a:rPr lang="en-US" altLang="zh-CN" sz="1600" dirty="0"/>
              <a:t>Jingyi</a:t>
            </a:r>
          </a:p>
          <a:p>
            <a:r>
              <a:rPr lang="zh-CN" altLang="en-US" sz="1600" dirty="0"/>
              <a:t> </a:t>
            </a:r>
            <a:r>
              <a:rPr lang="en-US" altLang="zh-CN" sz="1600" dirty="0"/>
              <a:t>2430026191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312766" y="483533"/>
            <a:ext cx="2874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3600" b="1" dirty="0"/>
              <a:t>Problem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5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27004" y="612417"/>
            <a:ext cx="3269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Background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82965" y="1253191"/>
            <a:ext cx="4696240" cy="4992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Using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492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monthly observations, we examine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Portfolio.F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(y)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versus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Market.x1 (x1)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and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rf rate.x6 (x6).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Returns are volatile 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(x1: mean 0.47, SD 4.50; 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x6: mean 0.48, SD 0.22; 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y: mean 1.40, SD 6.48)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The purpose of this analysis is to assess whether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Portfolio.F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has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 meaningful linear relationship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with Market.x1 and rf tate.x6 using simple regression lines, identify the factor with stronger linear association, and report uncertainty ranges for the mean and individual responses at specified x values.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24" y="3195703"/>
            <a:ext cx="5330431" cy="1988165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1" r="-663"/>
          <a:stretch>
            <a:fillRect/>
          </a:stretch>
        </p:blipFill>
        <p:spPr>
          <a:xfrm>
            <a:off x="195724" y="5375923"/>
            <a:ext cx="5615354" cy="998544"/>
          </a:xfrm>
          <a:prstGeom prst="rect">
            <a:avLst/>
          </a:prstGeom>
        </p:spPr>
      </p:pic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87685" y="1335589"/>
          <a:ext cx="552339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Var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Mean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6.48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x1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4.50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文本占位符 3">
            <a:extLst>
              <a:ext uri="{FF2B5EF4-FFF2-40B4-BE49-F238E27FC236}">
                <a16:creationId xmlns:a16="http://schemas.microsoft.com/office/drawing/2014/main" id="{AC768BD8-A94F-5F47-B592-9BE7C476AB6F}"/>
              </a:ext>
            </a:extLst>
          </p:cNvPr>
          <p:cNvSpPr txBox="1">
            <a:spLocks/>
          </p:cNvSpPr>
          <p:nvPr/>
        </p:nvSpPr>
        <p:spPr>
          <a:xfrm>
            <a:off x="10578834" y="5972154"/>
            <a:ext cx="1914362" cy="70422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/>
              <a:t>WANG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Jingyi</a:t>
            </a:r>
          </a:p>
          <a:p>
            <a:pPr marL="0" indent="0">
              <a:buNone/>
            </a:pPr>
            <a:r>
              <a:rPr lang="zh-CN" altLang="en-US" sz="1600" b="1" dirty="0"/>
              <a:t> </a:t>
            </a:r>
            <a:r>
              <a:rPr lang="en-US" altLang="zh-CN" sz="1600" b="1" dirty="0"/>
              <a:t>2430026191</a:t>
            </a:r>
            <a:endParaRPr lang="en-US" sz="16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</a:t>
            </a:r>
            <a:r>
              <a:rPr lang="en-US" dirty="0"/>
              <a:t> 5 (a)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6958" y="1301764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766958" y="1856772"/>
                <a:ext cx="572787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We fit two simple OLS regressions: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 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 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𝜀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So the fitted lines are: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1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Market.x1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ar-AE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8942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0671</m:t>
                      </m:r>
                      <m:r>
                        <m:rPr>
                          <m:nor/>
                        </m:rP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90204"/>
                          <a:ea typeface="微软雅黑"/>
                          <a:cs typeface="+mn-cs"/>
                        </a:rPr>
                        <m:t> </m:t>
                      </m:r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ar-AE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2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rf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m:rPr>
                        <m:sty m:val="p"/>
                      </m:rP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rate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.x6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ar-AE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4757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(−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2441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58" y="1856772"/>
                <a:ext cx="5727874" cy="2585323"/>
              </a:xfrm>
              <a:prstGeom prst="rect">
                <a:avLst/>
              </a:prstGeom>
              <a:blipFill rotWithShape="1">
                <a:blip r:embed="rId2"/>
                <a:stretch>
                  <a:fillRect l="-9" t="-1" r="1" b="-39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1919995" y="4759892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19995" y="5308835"/>
            <a:ext cx="7394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1: Positive slope (1.0671)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	→ Market factor increases, Portfolio F tends to increase</a:t>
            </a: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2: Negative slope (-2.2441)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	→ Risk-free rate increases, Portfolio F tends to decrease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292" y="3518204"/>
            <a:ext cx="2392329" cy="110917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292" y="2209362"/>
            <a:ext cx="2327725" cy="106949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699711" y="168217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 evidence: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B9E23AE8-52FE-AFD7-0633-81650BC6F6C3}"/>
              </a:ext>
            </a:extLst>
          </p:cNvPr>
          <p:cNvSpPr txBox="1">
            <a:spLocks/>
          </p:cNvSpPr>
          <p:nvPr/>
        </p:nvSpPr>
        <p:spPr>
          <a:xfrm>
            <a:off x="10578834" y="5972154"/>
            <a:ext cx="1914362" cy="70422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/>
              <a:t>WANG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Jingyi</a:t>
            </a:r>
          </a:p>
          <a:p>
            <a:pPr marL="0" indent="0">
              <a:buNone/>
            </a:pPr>
            <a:r>
              <a:rPr lang="zh-CN" altLang="en-US" sz="1600" b="1" dirty="0"/>
              <a:t> </a:t>
            </a:r>
            <a:r>
              <a:rPr lang="en-US" altLang="zh-CN" sz="1600" b="1" dirty="0"/>
              <a:t>2430026191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</a:t>
            </a:r>
            <a:r>
              <a:rPr lang="en-US" dirty="0"/>
              <a:t> 5 (b)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66750" y="1807611"/>
                <a:ext cx="7043020" cy="245894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We examine whether each factor has a statistically meaningful linear effect on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Portfolio.F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using two separate simple OLS models. For each model, we estimate the slope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𝑏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 its standard error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𝑆𝐸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(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𝑏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1), then test: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a:rPr kumimoji="0" lang="zh-CN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       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a:rPr kumimoji="0" lang="zh-CN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≠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𝑆𝐸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den>
                      </m:f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 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𝑑𝑓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90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 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𝑝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𝑑𝑓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We conclude significance if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𝑝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&lt;0.05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.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807611"/>
                <a:ext cx="7043020" cy="2458943"/>
              </a:xfrm>
              <a:prstGeom prst="rect">
                <a:avLst/>
              </a:prstGeom>
              <a:blipFill rotWithShape="1">
                <a:blip r:embed="rId2"/>
                <a:stretch>
                  <a:fillRect l="-90" t="-275" r="-87" b="-2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732171" y="4430464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7176" y="4830574"/>
            <a:ext cx="99427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1.P-value perspective: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- x₁: p &lt; 0.001 → Strong evidence against H₀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- x₆: p = 0.0847 &gt; 0.05 → Insufficient evidence against H₀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2. Visual perspective (see scatterplots):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- y vs x₁ shows clear positive linear trend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- y vs x₆ shows weak, scattered relationship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774" y="1464012"/>
            <a:ext cx="4717226" cy="269847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983" y="4181547"/>
            <a:ext cx="4321547" cy="2598870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338800" y="332435"/>
          <a:ext cx="8853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Slope(b)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t-value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p-value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Conclusion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y~x1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1.0671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24.398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&lt;0.001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Significant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y~x6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-2.2441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-1.728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0.0847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Not Significant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</a:t>
            </a:r>
            <a:r>
              <a:rPr lang="en-US" dirty="0"/>
              <a:t> 5 (c)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6750" y="1807611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2909" y="4531533"/>
            <a:ext cx="6022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defRPr/>
            </a:pPr>
            <a:r>
              <a:rPr lang="en-US" altLang="zh-CN" b="1" dirty="0">
                <a:solidFill>
                  <a:srgbClr val="000000"/>
                </a:solidFill>
              </a:rPr>
              <a:t>Conclusion:</a:t>
            </a:r>
            <a:endParaRPr lang="zh-CN" altLang="en-US" b="1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 (x₁) is clearly superior: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- Much stronger correlation (0.7406 vs -0.0778)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- Much higher explanatory power (54.85% vs 0.61%)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66750" y="1752245"/>
            <a:ext cx="69741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Comparison Criteria: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1. Correlation coefficient (r)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2. R-squared (R²)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22909" y="2977654"/>
          <a:ext cx="5733312" cy="1126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6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Correlation (r)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R-squared (R²)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y~x1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0.7406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0.5485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6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y~x6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-0.0778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0.0061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061752" y="750404"/>
            <a:ext cx="2108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 evidence: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248" y="1288805"/>
            <a:ext cx="2574374" cy="3989723"/>
          </a:xfrm>
          <a:prstGeom prst="rect">
            <a:avLst/>
          </a:prstGeom>
        </p:spPr>
      </p:pic>
      <p:sp>
        <p:nvSpPr>
          <p:cNvPr id="7" name="文本占位符 3">
            <a:extLst>
              <a:ext uri="{FF2B5EF4-FFF2-40B4-BE49-F238E27FC236}">
                <a16:creationId xmlns:a16="http://schemas.microsoft.com/office/drawing/2014/main" id="{687E2EFD-DC7D-6570-B7D6-D24AE90C115C}"/>
              </a:ext>
            </a:extLst>
          </p:cNvPr>
          <p:cNvSpPr txBox="1">
            <a:spLocks/>
          </p:cNvSpPr>
          <p:nvPr/>
        </p:nvSpPr>
        <p:spPr>
          <a:xfrm>
            <a:off x="10578834" y="5972154"/>
            <a:ext cx="1914362" cy="70422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/>
              <a:t>WANG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Jingyi</a:t>
            </a:r>
          </a:p>
          <a:p>
            <a:pPr marL="0" indent="0">
              <a:buNone/>
            </a:pPr>
            <a:r>
              <a:rPr lang="zh-CN" altLang="en-US" sz="1600" b="1" dirty="0"/>
              <a:t> </a:t>
            </a:r>
            <a:r>
              <a:rPr lang="en-US" altLang="zh-CN" sz="1600" b="1" dirty="0"/>
              <a:t>2430026191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</a:t>
            </a:r>
            <a:r>
              <a:rPr lang="en-US" dirty="0"/>
              <a:t> 5 (c)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1744304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37034" y="4220796"/>
            <a:ext cx="4803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The scatterplot clearly shows a strong positive linear relationship between Market.x1 and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Portfolio.F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.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271" y="259739"/>
            <a:ext cx="3485714" cy="64761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152" y="388698"/>
            <a:ext cx="3333333" cy="704762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47010" y="2464655"/>
            <a:ext cx="64299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Comparison with Model 2 (y~x6):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At x₆ = 0.25: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Mean CI: [1.0918, 2.7375],  Individual PI: [-10.8225, 14.6518]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365" y="1175041"/>
            <a:ext cx="4547009" cy="304575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23370" y="3768918"/>
            <a:ext cx="7111995" cy="24307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 of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Queation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5:</a:t>
            </a:r>
          </a:p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The analysis shows that the market factor (x₁) is a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74FB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significant predictor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of Portfolio F returns (p &lt; 0.001), with a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74FB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strong positive correlation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(r = 0.7406) and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74FB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high explanatory power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(R² = 0.5485); while the risk-free rate (x₆) has no significant effect (p = 0.085). Therefore, Model 1 (y ~ x₁) is the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74FB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better choice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. When the market factor is 1, the expected return is about 1.96%, though individual returns exhibit considerable uncertainty (interval: -6.61% to 10.54%).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7010" y="1093460"/>
            <a:ext cx="7043020" cy="16068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</a:p>
          <a:p>
            <a:pPr>
              <a:lnSpc>
                <a:spcPts val="2400"/>
              </a:lnSpc>
            </a:pPr>
            <a:r>
              <a:rPr lang="en-US" altLang="zh-CN" dirty="0"/>
              <a:t>Because we use the same model as in Question 1 to compute the 95% prediction interval, the procedure and results are identical, so no further explanation is provided here.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0F97B0AD-66FF-3124-5A26-D099A03AAA7C}"/>
              </a:ext>
            </a:extLst>
          </p:cNvPr>
          <p:cNvSpPr txBox="1">
            <a:spLocks/>
          </p:cNvSpPr>
          <p:nvPr/>
        </p:nvSpPr>
        <p:spPr>
          <a:xfrm>
            <a:off x="10578834" y="5972154"/>
            <a:ext cx="1914362" cy="70422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/>
              <a:t>WANG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Jingyi</a:t>
            </a:r>
          </a:p>
          <a:p>
            <a:pPr marL="0" indent="0">
              <a:buNone/>
            </a:pPr>
            <a:r>
              <a:rPr lang="zh-CN" altLang="en-US" sz="1600" b="1" dirty="0"/>
              <a:t> </a:t>
            </a:r>
            <a:r>
              <a:rPr lang="en-US" altLang="zh-CN" sz="1600" b="1" dirty="0"/>
              <a:t>2430026191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9337" y="229870"/>
            <a:ext cx="6489540" cy="2579605"/>
          </a:xfrm>
        </p:spPr>
        <p:txBody>
          <a:bodyPr/>
          <a:lstStyle/>
          <a:p>
            <a:r>
              <a:rPr lang="en-US" altLang="zh-CN">
                <a:sym typeface="+mn-ea"/>
              </a:rPr>
              <a:t>Group Combined Effort 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239336" y="4659496"/>
            <a:ext cx="2443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WU Chunyu 2430026217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2991" y="-408612"/>
            <a:ext cx="8955789" cy="2075349"/>
          </a:xfrm>
        </p:spPr>
        <p:txBody>
          <a:bodyPr>
            <a:normAutofit/>
          </a:bodyPr>
          <a:lstStyle/>
          <a:p>
            <a:r>
              <a:rPr lang="en-US" altLang="zh-CN" sz="4000">
                <a:sym typeface="+mn-ea"/>
              </a:rPr>
              <a:t>Objectives of Group Combined Effort </a:t>
            </a:r>
            <a:endParaRPr lang="en-US" altLang="zh-CN" sz="400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985510" y="4609465"/>
            <a:ext cx="5055870" cy="746760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sz="5600"/>
              <a:t>  </a:t>
            </a:r>
            <a:r>
              <a:rPr lang="en-US" altLang="zh-CN" sz="7200"/>
              <a:t>recommend the best model for predicting Portfolio F returns</a:t>
            </a:r>
          </a:p>
          <a:p>
            <a:pPr algn="l"/>
            <a:endParaRPr lang="en-US" altLang="zh-CN" sz="7200"/>
          </a:p>
        </p:txBody>
      </p:sp>
      <p:sp>
        <p:nvSpPr>
          <p:cNvPr id="6" name="文本框 5"/>
          <p:cNvSpPr txBox="1"/>
          <p:nvPr/>
        </p:nvSpPr>
        <p:spPr>
          <a:xfrm>
            <a:off x="6112510" y="1680845"/>
            <a:ext cx="5055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Summarize the results from Questions 1–5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85510" y="3145155"/>
            <a:ext cx="59340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 Compare two evaluation criteria for all models: Correlation coefficient &amp; R-square 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30854" y="1628570"/>
                <a:ext cx="476821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Construct simple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regression models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of  y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  <m:t> 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54" y="1628570"/>
                <a:ext cx="4768215" cy="645160"/>
              </a:xfrm>
              <a:prstGeom prst="rect">
                <a:avLst/>
              </a:prstGeom>
              <a:blipFill rotWithShape="1">
                <a:blip r:embed="rId2"/>
                <a:stretch>
                  <a:fillRect t="-67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1049655" y="5602605"/>
            <a:ext cx="37058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calculate the 95% prediction interval for specified x-values.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3075" y="2769235"/>
            <a:ext cx="524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p-value-based significance testing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( al</a:t>
            </a:r>
            <a:r>
              <a:rPr lang="en-US" altLang="zh-CN" dirty="0">
                <a:solidFill>
                  <a:srgbClr val="000000"/>
                </a:solidFill>
                <a:latin typeface="Arial" panose="020B0604020202090204"/>
                <a:ea typeface="微软雅黑"/>
              </a:rPr>
              <a:t>most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𝑝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&lt;0.05)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2463165" y="2292350"/>
            <a:ext cx="277495" cy="4273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4" name="下箭头 13"/>
          <p:cNvSpPr/>
          <p:nvPr/>
        </p:nvSpPr>
        <p:spPr>
          <a:xfrm>
            <a:off x="7705090" y="4131945"/>
            <a:ext cx="277495" cy="4273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5" name="下箭头 14"/>
          <p:cNvSpPr/>
          <p:nvPr/>
        </p:nvSpPr>
        <p:spPr>
          <a:xfrm>
            <a:off x="8166735" y="2292350"/>
            <a:ext cx="277495" cy="4273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2371090" y="5194935"/>
            <a:ext cx="277495" cy="4273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943" y="3367211"/>
            <a:ext cx="317019" cy="4450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882763" y="4219928"/>
                <a:ext cx="4039644" cy="951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Calculate correlation coefficient and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/>
                      <m:sup>
                        <m:r>
                          <a:rPr lang="ar-AE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pPr algn="ctr"/>
                <a:r>
                  <a:rPr lang="en-US" altLang="zh-CN" dirty="0"/>
                  <a:t>Choose the better model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(Model 1)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763" y="4219928"/>
                <a:ext cx="4039644" cy="951543"/>
              </a:xfrm>
              <a:prstGeom prst="rect">
                <a:avLst/>
              </a:prstGeom>
              <a:blipFill rotWithShape="1">
                <a:blip r:embed="rId4"/>
                <a:stretch>
                  <a:fillRect l="-3" t="-37" r="1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A4525CA5-6463-5404-EEA3-FEF0A0A021AA}"/>
              </a:ext>
            </a:extLst>
          </p:cNvPr>
          <p:cNvSpPr txBox="1"/>
          <p:nvPr/>
        </p:nvSpPr>
        <p:spPr>
          <a:xfrm>
            <a:off x="10608213" y="6113719"/>
            <a:ext cx="158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WU Chunyu 2430026217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bldLvl="0" animBg="1"/>
      <p:bldP spid="16" grpId="1" animBg="1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980" y="1546225"/>
            <a:ext cx="2629535" cy="4631690"/>
          </a:xfrm>
        </p:spPr>
        <p:txBody>
          <a:bodyPr>
            <a:normAutofit/>
          </a:bodyPr>
          <a:lstStyle/>
          <a:p>
            <a:r>
              <a:rPr lang="en-US" altLang="zh-CN">
                <a:sym typeface="+mn-ea"/>
              </a:rPr>
              <a:t>Model Evaluation Criteria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652368" y="892493"/>
            <a:ext cx="7773821" cy="4633912"/>
          </a:xfrm>
        </p:spPr>
        <p:txBody>
          <a:bodyPr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altLang="zh-CN" dirty="0">
                <a:sym typeface="+mn-ea"/>
              </a:rPr>
              <a:t>  </a:t>
            </a: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r>
              <a:rPr lang="en-US" altLang="zh-CN" sz="2400" b="1" dirty="0">
                <a:sym typeface="+mn-ea"/>
              </a:rPr>
              <a:t>The larger the correlation</a:t>
            </a:r>
          </a:p>
          <a:p>
            <a:pPr marL="0" indent="0" algn="ctr">
              <a:buNone/>
            </a:pP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r>
              <a:rPr lang="en-US" altLang="zh-CN" sz="2400" b="1" dirty="0">
                <a:sym typeface="+mn-ea"/>
              </a:rPr>
              <a:t>the stronger the linear relationship between x and y.</a:t>
            </a:r>
          </a:p>
          <a:p>
            <a:pPr marL="0" indent="0" algn="ctr">
              <a:buNone/>
            </a:pP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r>
              <a:rPr lang="en-US" altLang="zh-CN" sz="2400" b="1" dirty="0">
                <a:sym typeface="+mn-ea"/>
              </a:rPr>
              <a:t> The larger the R-square</a:t>
            </a:r>
          </a:p>
          <a:p>
            <a:pPr marL="0" indent="0" algn="ctr">
              <a:buNone/>
            </a:pP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r>
              <a:rPr lang="en-US" altLang="zh-CN" sz="2400" b="1" dirty="0">
                <a:sym typeface="+mn-ea"/>
              </a:rPr>
              <a:t>the better the model explains the variation in the response variable.</a:t>
            </a:r>
            <a:endParaRPr lang="en-US" altLang="zh-CN" sz="2400" b="1" dirty="0"/>
          </a:p>
          <a:p>
            <a:pPr marL="0" indent="0" algn="l">
              <a:buNone/>
            </a:pPr>
            <a:r>
              <a:rPr lang="en-US" altLang="zh-CN" dirty="0">
                <a:sym typeface="+mn-ea"/>
              </a:rPr>
              <a:t>  </a:t>
            </a:r>
            <a:endParaRPr lang="zh-CN" altLang="en-US" sz="2000" dirty="0"/>
          </a:p>
        </p:txBody>
      </p:sp>
      <p:sp>
        <p:nvSpPr>
          <p:cNvPr id="4" name="下箭头 3"/>
          <p:cNvSpPr/>
          <p:nvPr/>
        </p:nvSpPr>
        <p:spPr>
          <a:xfrm>
            <a:off x="7040880" y="1546225"/>
            <a:ext cx="485140" cy="4641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7040880" y="3547745"/>
            <a:ext cx="485140" cy="62865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2AB203-292E-940B-250A-12C1681DE0E6}"/>
              </a:ext>
            </a:extLst>
          </p:cNvPr>
          <p:cNvSpPr txBox="1"/>
          <p:nvPr/>
        </p:nvSpPr>
        <p:spPr>
          <a:xfrm>
            <a:off x="10514233" y="6013511"/>
            <a:ext cx="158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WU Chunyu 2430026217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/>
              <p:nvPr/>
            </p:nvGraphicFramePr>
            <p:xfrm>
              <a:off x="877570" y="1737360"/>
              <a:ext cx="9220518" cy="3365120"/>
            </p:xfrm>
            <a:graphic>
              <a:graphicData uri="http://schemas.openxmlformats.org/drawingml/2006/table">
                <a:tbl>
                  <a:tblPr firstRow="1">
                    <a:tableStyleId>{B301B821-A1FF-4177-AEE7-76D212191A09}</a:tableStyleId>
                  </a:tblPr>
                  <a:tblGrid>
                    <a:gridCol w="13674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697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703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7099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7035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7162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87045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 dirty="0"/>
                            <a:t>Models</a:t>
                          </a:r>
                          <a:endParaRPr lang="en-US" altLang="zh-CN" sz="18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 dirty="0"/>
                            <a:t>Question 1</a:t>
                          </a:r>
                          <a:endParaRPr lang="en-US" altLang="zh-CN" sz="18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 dirty="0"/>
                            <a:t>Question 2</a:t>
                          </a:r>
                          <a:endParaRPr lang="en-US" altLang="zh-CN" sz="18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/>
                            <a:t>Question 3</a:t>
                          </a:r>
                          <a:endParaRPr lang="en-US" altLang="zh-CN" sz="18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/>
                            <a:t>Question 4</a:t>
                          </a:r>
                          <a:endParaRPr lang="en-US" altLang="zh-CN" sz="18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/>
                            <a:t>Question 5</a:t>
                          </a:r>
                          <a:endParaRPr lang="en-US" altLang="zh-CN" sz="18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6435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M1</a:t>
                          </a:r>
                          <a:endParaRPr lang="en-US" altLang="zh-CN" sz="14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 dirty="0"/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7406</m:t>
                              </m:r>
                            </m:oMath>
                          </a14:m>
                          <a:endParaRPr lang="en-US" altLang="zh-CN" sz="20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7406</m:t>
                              </m:r>
                            </m:oMath>
                          </a14:m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0.7406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7406</m:t>
                              </m:r>
                            </m:oMath>
                          </a14:m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0.7406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M2</a:t>
                          </a:r>
                          <a:endParaRPr lang="en-US" altLang="zh-CN" sz="14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7362</m:t>
                              </m:r>
                            </m:oMath>
                          </a14:m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-0.2869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-0.3333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0.7400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-0.0778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7705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M1</a:t>
                          </a:r>
                          <a:endParaRPr lang="en-US" altLang="zh-CN" sz="14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0.5485</a:t>
                          </a:r>
                          <a:endParaRPr lang="ar-AE" altLang="zh-CN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0.5485</a:t>
                          </a:r>
                          <a:endParaRPr lang="ar-AE" altLang="zh-CN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0.5485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0.5485</a:t>
                          </a:r>
                          <a:endParaRPr lang="ar-AE" altLang="zh-CN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0.5485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R-square for M2</a:t>
                          </a:r>
                          <a:endParaRPr lang="en-US" altLang="zh-CN" sz="14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 dirty="0"/>
                            <a:t>0.5420</a:t>
                          </a:r>
                          <a:endParaRPr lang="zh-CN" altLang="en-US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0.0823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0.1111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0.5476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sz="2000" dirty="0"/>
                            <a:t>0.0061</a:t>
                          </a:r>
                          <a:endParaRPr lang="en-US" sz="20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/>
              <p:nvPr/>
            </p:nvGraphicFramePr>
            <p:xfrm>
              <a:off x="877570" y="1737360"/>
              <a:ext cx="9220518" cy="3365120"/>
            </p:xfrm>
            <a:graphic>
              <a:graphicData uri="http://schemas.openxmlformats.org/drawingml/2006/table">
                <a:tbl>
                  <a:tblPr firstRow="1">
                    <a:tableStyleId>{B301B821-A1FF-4177-AEE7-76D212191A09}</a:tableStyleId>
                  </a:tblPr>
                  <a:tblGrid>
                    <a:gridCol w="1367473"/>
                    <a:gridCol w="1569720"/>
                    <a:gridCol w="1570355"/>
                    <a:gridCol w="1570990"/>
                    <a:gridCol w="1570355"/>
                    <a:gridCol w="1571625"/>
                  </a:tblGrid>
                  <a:tr h="487045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 dirty="0"/>
                            <a:t>Models</a:t>
                          </a:r>
                          <a:endParaRPr lang="en-US" altLang="zh-CN" sz="18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 dirty="0"/>
                            <a:t>Question 1</a:t>
                          </a:r>
                          <a:endParaRPr lang="en-US" altLang="zh-CN" sz="18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 dirty="0"/>
                            <a:t>Question 2</a:t>
                          </a:r>
                          <a:endParaRPr lang="en-US" altLang="zh-CN" sz="18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/>
                            <a:t>Question 3</a:t>
                          </a:r>
                          <a:endParaRPr lang="en-US" altLang="zh-CN" sz="18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/>
                            <a:t>Question 4</a:t>
                          </a:r>
                          <a:endParaRPr lang="en-US" altLang="zh-CN" sz="18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/>
                            <a:t>Question 5</a:t>
                          </a:r>
                          <a:endParaRPr lang="en-US" altLang="zh-CN" sz="18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  <a:tr h="686435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M1</a:t>
                          </a:r>
                          <a:endParaRPr lang="en-US" altLang="zh-CN" sz="14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0.7406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0.7406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  <a:tr h="685800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M2</a:t>
                          </a:r>
                          <a:endParaRPr lang="en-US" altLang="zh-CN" sz="14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-0.2869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-0.3333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0.7400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-0.0778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  <a:tr h="687705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M1</a:t>
                          </a:r>
                          <a:endParaRPr lang="en-US" altLang="zh-CN" sz="14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0.5485</a:t>
                          </a:r>
                          <a:endParaRPr lang="ar-AE" altLang="zh-CN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0.5485</a:t>
                          </a:r>
                          <a:endParaRPr lang="ar-AE" altLang="zh-CN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0.5485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0.5485</a:t>
                          </a:r>
                          <a:endParaRPr lang="ar-AE" altLang="zh-CN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0.5485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  <a:tr h="685800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R-square for M2</a:t>
                          </a:r>
                          <a:endParaRPr lang="en-US" altLang="zh-CN" sz="14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 dirty="0"/>
                            <a:t>0.5420</a:t>
                          </a:r>
                          <a:endParaRPr lang="zh-CN" altLang="en-US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0.0823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0.1111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0.5476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sz="2000" dirty="0"/>
                            <a:t>0.0061</a:t>
                          </a:r>
                          <a:endParaRPr lang="en-US" sz="20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文本框 4"/>
          <p:cNvSpPr txBox="1"/>
          <p:nvPr/>
        </p:nvSpPr>
        <p:spPr>
          <a:xfrm>
            <a:off x="760730" y="415290"/>
            <a:ext cx="651192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solidFill>
                  <a:srgbClr val="0174FB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 panose="020B0604020202090204"/>
                <a:ea typeface="微软雅黑"/>
                <a:cs typeface="+mn-cs"/>
              </a:rPr>
              <a:t>summary of the correlation and R-square for all models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4785" y="5807710"/>
            <a:ext cx="13092430" cy="800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Corr = correlation between x and 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 R² = coefficient of determination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 Model 1 uses x1; Model 2 uses the alternative factor in each question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F8B8BB-9F61-C808-22B9-6B49C7FDB2BB}"/>
              </a:ext>
            </a:extLst>
          </p:cNvPr>
          <p:cNvSpPr txBox="1"/>
          <p:nvPr/>
        </p:nvSpPr>
        <p:spPr>
          <a:xfrm>
            <a:off x="10608213" y="6113719"/>
            <a:ext cx="158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WU Chunyu 2430026217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506729"/>
            <a:ext cx="10858500" cy="521970"/>
          </a:xfrm>
        </p:spPr>
        <p:txBody>
          <a:bodyPr/>
          <a:lstStyle/>
          <a:p>
            <a:r>
              <a:rPr lang="en-US" altLang="zh-CN">
                <a:sym typeface="+mn-ea"/>
              </a:rPr>
              <a:t>Key Findings from Model Comparison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/>
              <p:cNvGraphicFramePr>
                <a:graphicFrameLocks noGrp="1"/>
              </p:cNvGraphicFramePr>
              <p:nvPr>
                <p:ph idx="1"/>
                <p:custDataLst>
                  <p:tags r:id="rId1"/>
                </p:custDataLst>
              </p:nvPr>
            </p:nvGraphicFramePr>
            <p:xfrm>
              <a:off x="257810" y="1858645"/>
              <a:ext cx="5801360" cy="3535045"/>
            </p:xfrm>
            <a:graphic>
              <a:graphicData uri="http://schemas.openxmlformats.org/drawingml/2006/table">
                <a:tbl>
                  <a:tblPr firstRow="1">
                    <a:tableStyleId>{6E25E649-3F16-4E02-A733-19D2CDBF48F0}</a:tableStyleId>
                  </a:tblPr>
                  <a:tblGrid>
                    <a:gridCol w="7931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74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064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855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03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8552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9753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Models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 dirty="0"/>
                            <a:t>Question 1</a:t>
                          </a:r>
                          <a:endParaRPr lang="en-US" altLang="zh-CN" sz="1400" b="1" spc="6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2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3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4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5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546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7406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7406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7406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895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Corr for M2</a:t>
                          </a:r>
                          <a:endParaRPr lang="en-US" altLang="zh-CN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7362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-0.2869</a:t>
                          </a:r>
                          <a:endParaRPr lang="en-US" altLang="zh-CN" sz="1400"/>
                        </a:p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-0.3333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0.7400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-0.0778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M2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0.5420</a:t>
                          </a:r>
                          <a:endParaRPr lang="en-US" altLang="zh-CN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0.0823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0.1111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0.5476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sz="1400" dirty="0"/>
                            <a:t>0.0061</a:t>
                          </a:r>
                          <a:endParaRPr lang="en-US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/>
              <p:cNvGraphicFramePr>
                <a:graphicFrameLocks noGrp="1"/>
              </p:cNvGraphicFramePr>
              <p:nvPr>
                <p:ph idx="1"/>
                <p:custDataLst>
                  <p:tags r:id="rId3"/>
                </p:custDataLst>
              </p:nvPr>
            </p:nvGraphicFramePr>
            <p:xfrm>
              <a:off x="257810" y="1858645"/>
              <a:ext cx="5801360" cy="3535045"/>
            </p:xfrm>
            <a:graphic>
              <a:graphicData uri="http://schemas.openxmlformats.org/drawingml/2006/table">
                <a:tbl>
                  <a:tblPr firstRow="1">
                    <a:tableStyleId>{6E25E649-3F16-4E02-A733-19D2CDBF48F0}</a:tableStyleId>
                  </a:tblPr>
                  <a:tblGrid>
                    <a:gridCol w="793115"/>
                    <a:gridCol w="1027430"/>
                    <a:gridCol w="1006475"/>
                    <a:gridCol w="985520"/>
                    <a:gridCol w="1003300"/>
                    <a:gridCol w="985520"/>
                  </a:tblGrid>
                  <a:tr h="59753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Models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 dirty="0"/>
                            <a:t>Question 1</a:t>
                          </a:r>
                          <a:endParaRPr lang="en-US" altLang="zh-CN" sz="1400" b="1" spc="6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2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3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4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5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54546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52895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Corr for M2</a:t>
                          </a:r>
                          <a:endParaRPr lang="en-US" altLang="zh-CN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-0.2869</a:t>
                          </a:r>
                          <a:endParaRPr lang="en-US" altLang="zh-CN" sz="1400"/>
                        </a:p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-0.3333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0.7400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-0.0778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M2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0.5420</a:t>
                          </a:r>
                          <a:endParaRPr lang="en-US" altLang="zh-CN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0.0823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0.1111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0.5476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sz="1400" dirty="0"/>
                            <a:t>0.0061</a:t>
                          </a:r>
                          <a:endParaRPr lang="en-US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文本框 5"/>
          <p:cNvSpPr txBox="1"/>
          <p:nvPr/>
        </p:nvSpPr>
        <p:spPr>
          <a:xfrm>
            <a:off x="6797040" y="405130"/>
            <a:ext cx="5415280" cy="5642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74FB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 (M1)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strong positive relationship between x1 and Portfolio F.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this correlation is high and consistent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→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changes in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x1 reliably reflects changes in Portfolio F returns.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explains around half of the variation in 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174FB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8" name="流程图: 终止 7"/>
          <p:cNvSpPr/>
          <p:nvPr/>
        </p:nvSpPr>
        <p:spPr>
          <a:xfrm>
            <a:off x="984250" y="2512060"/>
            <a:ext cx="4959350" cy="401320"/>
          </a:xfrm>
          <a:prstGeom prst="flowChartTerminator">
            <a:avLst/>
          </a:prstGeom>
          <a:ln w="38100" cap="flat" cmpd="sng" algn="ctr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lumMod val="110000"/>
                        <a:satMod val="105000"/>
                        <a:tint val="67000"/>
                      </a:schemeClr>
                    </a:gs>
                    <a:gs pos="50000">
                      <a:schemeClr val="accent1">
                        <a:lumMod val="105000"/>
                        <a:satMod val="103000"/>
                        <a:tint val="73000"/>
                      </a:schemeClr>
                    </a:gs>
                    <a:gs pos="100000">
                      <a:schemeClr val="accent1">
                        <a:lumMod val="105000"/>
                        <a:satMod val="109000"/>
                        <a:tint val="81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流程图: 终止 8"/>
          <p:cNvSpPr/>
          <p:nvPr/>
        </p:nvSpPr>
        <p:spPr>
          <a:xfrm>
            <a:off x="914400" y="3734435"/>
            <a:ext cx="5304790" cy="471805"/>
          </a:xfrm>
          <a:prstGeom prst="flowChartTerminator">
            <a:avLst/>
          </a:prstGeom>
          <a:ln w="38100" cap="flat" cmpd="sng" algn="ctr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lumMod val="110000"/>
                        <a:satMod val="105000"/>
                        <a:tint val="67000"/>
                      </a:schemeClr>
                    </a:gs>
                    <a:gs pos="50000">
                      <a:schemeClr val="accent1">
                        <a:lumMod val="105000"/>
                        <a:satMod val="103000"/>
                        <a:tint val="73000"/>
                      </a:schemeClr>
                    </a:gs>
                    <a:gs pos="100000">
                      <a:schemeClr val="accent1">
                        <a:lumMod val="105000"/>
                        <a:satMod val="109000"/>
                        <a:tint val="81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右箭头 9"/>
          <p:cNvSpPr/>
          <p:nvPr/>
        </p:nvSpPr>
        <p:spPr>
          <a:xfrm rot="780000">
            <a:off x="5969635" y="2559050"/>
            <a:ext cx="801370" cy="307340"/>
          </a:xfrm>
          <a:prstGeom prst="rightArrow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1" name="右箭头 10"/>
          <p:cNvSpPr/>
          <p:nvPr/>
        </p:nvSpPr>
        <p:spPr>
          <a:xfrm rot="960000">
            <a:off x="5828030" y="3774440"/>
            <a:ext cx="942975" cy="307340"/>
          </a:xfrm>
          <a:prstGeom prst="rightArrow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D466F3-8900-2863-3E68-5BBF0598E089}"/>
              </a:ext>
            </a:extLst>
          </p:cNvPr>
          <p:cNvSpPr txBox="1"/>
          <p:nvPr/>
        </p:nvSpPr>
        <p:spPr>
          <a:xfrm>
            <a:off x="10608213" y="6113719"/>
            <a:ext cx="158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WU Chunyu 2430026217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bldLvl="0" animBg="1"/>
      <p:bldP spid="9" grpId="1" animBg="1"/>
      <p:bldP spid="10" grpId="0" bldLvl="0" animBg="1"/>
      <p:bldP spid="10" grpId="1" animBg="1"/>
      <p:bldP spid="11" grpId="0" bldLvl="0" animBg="1"/>
      <p:bldP spid="11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506729"/>
            <a:ext cx="10858500" cy="521970"/>
          </a:xfrm>
        </p:spPr>
        <p:txBody>
          <a:bodyPr/>
          <a:lstStyle/>
          <a:p>
            <a:r>
              <a:rPr lang="en-US" altLang="zh-CN">
                <a:sym typeface="+mn-ea"/>
              </a:rPr>
              <a:t>Key Findings from Model Comparison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/>
              <p:cNvGraphicFramePr>
                <a:graphicFrameLocks noGrp="1"/>
              </p:cNvGraphicFramePr>
              <p:nvPr>
                <p:ph idx="1"/>
                <p:custDataLst>
                  <p:tags r:id="rId1"/>
                </p:custDataLst>
              </p:nvPr>
            </p:nvGraphicFramePr>
            <p:xfrm>
              <a:off x="257810" y="1858645"/>
              <a:ext cx="5801360" cy="3511550"/>
            </p:xfrm>
            <a:graphic>
              <a:graphicData uri="http://schemas.openxmlformats.org/drawingml/2006/table">
                <a:tbl>
                  <a:tblPr firstRow="1">
                    <a:tableStyleId>{3C2FFA5D-87B4-456A-9821-1D502468CF0F}</a:tableStyleId>
                  </a:tblPr>
                  <a:tblGrid>
                    <a:gridCol w="7931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74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064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855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03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8552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7404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Models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 dirty="0"/>
                            <a:t>Question 1</a:t>
                          </a:r>
                          <a:endParaRPr lang="en-US" altLang="zh-CN" sz="1400" b="1" spc="6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2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3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4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5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546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7406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7406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7406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895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M2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7362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-0.2869</a:t>
                          </a:r>
                          <a:endParaRPr lang="en-US" altLang="zh-CN" sz="1400"/>
                        </a:p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-0.3333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0.7400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-0.0778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M2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0.5420</a:t>
                          </a:r>
                          <a:endParaRPr lang="en-US" altLang="zh-CN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>
                              <a:sym typeface="+mn-ea"/>
                            </a:rPr>
                            <a:t>0.0823</a:t>
                          </a:r>
                          <a:endParaRPr lang="en-US" altLang="zh-CN" sz="1400" dirty="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0.1111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0.5476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sz="1400" dirty="0"/>
                            <a:t>0.0061</a:t>
                          </a:r>
                          <a:endParaRPr lang="en-US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/>
              <p:cNvGraphicFramePr>
                <a:graphicFrameLocks noGrp="1"/>
              </p:cNvGraphicFramePr>
              <p:nvPr>
                <p:ph idx="1"/>
                <p:custDataLst>
                  <p:tags r:id="rId3"/>
                </p:custDataLst>
              </p:nvPr>
            </p:nvGraphicFramePr>
            <p:xfrm>
              <a:off x="257810" y="1858645"/>
              <a:ext cx="5801360" cy="3511550"/>
            </p:xfrm>
            <a:graphic>
              <a:graphicData uri="http://schemas.openxmlformats.org/drawingml/2006/table">
                <a:tbl>
                  <a:tblPr firstRow="1">
                    <a:tableStyleId>{3C2FFA5D-87B4-456A-9821-1D502468CF0F}</a:tableStyleId>
                  </a:tblPr>
                  <a:tblGrid>
                    <a:gridCol w="793115"/>
                    <a:gridCol w="1027430"/>
                    <a:gridCol w="1006475"/>
                    <a:gridCol w="985520"/>
                    <a:gridCol w="1003300"/>
                    <a:gridCol w="985520"/>
                  </a:tblGrid>
                  <a:tr h="57404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Models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 dirty="0"/>
                            <a:t>Question 1</a:t>
                          </a:r>
                          <a:endParaRPr lang="en-US" altLang="zh-CN" sz="1400" b="1" spc="6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2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3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4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5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54546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52895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M2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-0.2869</a:t>
                          </a:r>
                          <a:endParaRPr lang="en-US" altLang="zh-CN" sz="1400"/>
                        </a:p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-0.3333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0.7400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-0.0778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M2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0.5420</a:t>
                          </a:r>
                          <a:endParaRPr lang="en-US" altLang="zh-CN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>
                              <a:sym typeface="+mn-ea"/>
                            </a:rPr>
                            <a:t>0.0823</a:t>
                          </a:r>
                          <a:endParaRPr lang="en-US" altLang="zh-CN" sz="1400" dirty="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0.1111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0.5476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sz="1400" dirty="0"/>
                            <a:t>0.0061</a:t>
                          </a:r>
                          <a:endParaRPr lang="en-US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6718935" y="405130"/>
                <a:ext cx="5299075" cy="56426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174FB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174FB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74FB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  <a:sym typeface="+mn-ea"/>
                  </a:rPr>
                  <a:t>Model 2 (M2)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74FB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	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174FB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	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 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  <a:sym typeface="+mn-ea"/>
                  </a:rPr>
                  <a:t>negative correlation,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  <a:sym typeface="+mn-ea"/>
                  </a:rPr>
                  <a:t>i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ncreases in x do not correspond to increases in 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19050" dir="27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uLnTx/>
                        <a:uFillTx/>
                        <a:latin typeface="Cambria Math" panose="02040503050406030204" pitchFamily="18" charset="0"/>
                        <a:ea typeface="微软雅黑"/>
                        <a:cs typeface="+mn-cs"/>
                      </a:rPr>
                      <m:t>𝑦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—they may even move in opposite directions.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very low ,the model cannot explain the changes in 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19050" dir="27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uLnTx/>
                        <a:uFillTx/>
                        <a:latin typeface="Cambria Math" panose="02040503050406030204" pitchFamily="18" charset="0"/>
                        <a:ea typeface="微软雅黑"/>
                        <a:cs typeface="+mn-cs"/>
                      </a:rPr>
                      <m:t>𝑦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74FB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	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935" y="405130"/>
                <a:ext cx="5299075" cy="564261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终止 7"/>
          <p:cNvSpPr/>
          <p:nvPr/>
        </p:nvSpPr>
        <p:spPr>
          <a:xfrm>
            <a:off x="1792605" y="2947670"/>
            <a:ext cx="2477135" cy="586105"/>
          </a:xfrm>
          <a:prstGeom prst="flowChartTerminator">
            <a:avLst/>
          </a:prstGeom>
          <a:ln w="28575" cap="flat" cmpd="sng" algn="ctr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lumMod val="110000"/>
                        <a:satMod val="105000"/>
                        <a:tint val="67000"/>
                      </a:schemeClr>
                    </a:gs>
                    <a:gs pos="50000">
                      <a:schemeClr val="accent1">
                        <a:lumMod val="105000"/>
                        <a:satMod val="103000"/>
                        <a:tint val="73000"/>
                      </a:schemeClr>
                    </a:gs>
                    <a:gs pos="100000">
                      <a:schemeClr val="accent1">
                        <a:lumMod val="105000"/>
                        <a:satMod val="109000"/>
                        <a:tint val="81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流程图: 终止 8"/>
          <p:cNvSpPr/>
          <p:nvPr/>
        </p:nvSpPr>
        <p:spPr>
          <a:xfrm>
            <a:off x="5143500" y="4646930"/>
            <a:ext cx="1033145" cy="471805"/>
          </a:xfrm>
          <a:prstGeom prst="flowChartTerminator">
            <a:avLst/>
          </a:prstGeom>
          <a:ln w="28575" cap="flat" cmpd="sng" algn="ctr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lumMod val="110000"/>
                        <a:satMod val="105000"/>
                        <a:tint val="67000"/>
                      </a:schemeClr>
                    </a:gs>
                    <a:gs pos="50000">
                      <a:schemeClr val="accent1">
                        <a:lumMod val="105000"/>
                        <a:satMod val="103000"/>
                        <a:tint val="73000"/>
                      </a:schemeClr>
                    </a:gs>
                    <a:gs pos="100000">
                      <a:schemeClr val="accent1">
                        <a:lumMod val="105000"/>
                        <a:satMod val="109000"/>
                        <a:tint val="81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右箭头 9"/>
          <p:cNvSpPr/>
          <p:nvPr/>
        </p:nvSpPr>
        <p:spPr>
          <a:xfrm rot="21300000">
            <a:off x="4170045" y="2882900"/>
            <a:ext cx="2305050" cy="307340"/>
          </a:xfrm>
          <a:prstGeom prst="rightArrow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1" name="右箭头 10"/>
          <p:cNvSpPr/>
          <p:nvPr/>
        </p:nvSpPr>
        <p:spPr>
          <a:xfrm rot="20040000">
            <a:off x="6196330" y="4871720"/>
            <a:ext cx="942975" cy="307340"/>
          </a:xfrm>
          <a:prstGeom prst="rightArrow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3" name="流程图: 终止 2"/>
          <p:cNvSpPr/>
          <p:nvPr/>
        </p:nvSpPr>
        <p:spPr>
          <a:xfrm>
            <a:off x="2499360" y="4646930"/>
            <a:ext cx="1559073" cy="471805"/>
          </a:xfrm>
          <a:prstGeom prst="flowChartTerminator">
            <a:avLst/>
          </a:prstGeom>
          <a:ln w="28575" cap="flat" cmpd="sng" algn="ctr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lumMod val="110000"/>
                        <a:satMod val="105000"/>
                        <a:tint val="67000"/>
                      </a:schemeClr>
                    </a:gs>
                    <a:gs pos="50000">
                      <a:schemeClr val="accent1">
                        <a:lumMod val="105000"/>
                        <a:satMod val="103000"/>
                        <a:tint val="73000"/>
                      </a:schemeClr>
                    </a:gs>
                    <a:gs pos="100000">
                      <a:schemeClr val="accent1">
                        <a:lumMod val="105000"/>
                        <a:satMod val="109000"/>
                        <a:tint val="81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892511-0ABA-DDDA-0C2D-5C3E82A0EB62}"/>
              </a:ext>
            </a:extLst>
          </p:cNvPr>
          <p:cNvSpPr txBox="1"/>
          <p:nvPr/>
        </p:nvSpPr>
        <p:spPr>
          <a:xfrm>
            <a:off x="10608213" y="6113719"/>
            <a:ext cx="158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WU Chunyu 2430026217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  <p:bldP spid="9" grpId="0" bldLvl="0" animBg="1"/>
      <p:bldP spid="9" grpId="1" animBg="1"/>
      <p:bldP spid="10" grpId="0" bldLvl="0" animBg="1"/>
      <p:bldP spid="10" grpId="1" animBg="1"/>
      <p:bldP spid="11" grpId="0" bldLvl="0" animBg="1"/>
      <p:bldP spid="11" grpId="1" animBg="1"/>
      <p:bldP spid="3" grpId="0" bldLvl="0" animBg="1"/>
      <p:bldP spid="3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5185" y="656589"/>
            <a:ext cx="10858500" cy="1814830"/>
          </a:xfrm>
        </p:spPr>
        <p:txBody>
          <a:bodyPr/>
          <a:lstStyle/>
          <a:p>
            <a:r>
              <a:rPr lang="en-US" altLang="zh-CN">
                <a:sym typeface="+mn-ea"/>
              </a:rPr>
              <a:t>final recommendation</a:t>
            </a:r>
            <a:br>
              <a:rPr lang="en-US" altLang="zh-CN">
                <a:sym typeface="+mn-ea"/>
              </a:rPr>
            </a:br>
            <a:br>
              <a:rPr lang="en-US" altLang="zh-CN">
                <a:sym typeface="+mn-ea"/>
              </a:rPr>
            </a:br>
            <a:br>
              <a:rPr lang="en-US" altLang="zh-CN"/>
            </a:b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687195" y="927100"/>
                <a:ext cx="7892415" cy="50038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US" altLang="zh-CN" sz="17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altLang="zh-CN" sz="17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The model with</a:t>
                </a:r>
                <a:r>
                  <a:rPr lang="en-US" altLang="zh-CN" sz="2400" b="1" dirty="0">
                    <a:solidFill>
                      <a:schemeClr val="accent1"/>
                    </a:solidFill>
                  </a:rPr>
                  <a:t> the higher correlation</a:t>
                </a:r>
                <a14:m>
                  <m:oMath xmlns:m="http://schemas.openxmlformats.org/officeDocument/2006/math">
                    <m:r>
                      <a:rPr lang="en-US" altLang="ar-AE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 </m:t>
                    </m:r>
                    <m:r>
                      <a:rPr lang="ar-AE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ar-AE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ar-AE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7406</m:t>
                    </m:r>
                  </m:oMath>
                </a14:m>
                <a:endParaRPr lang="en-US" altLang="zh-CN" sz="24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400" b="1" dirty="0">
                    <a:solidFill>
                      <a:schemeClr val="accent1"/>
                    </a:solidFill>
                  </a:rPr>
                  <a:t>•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The model with the higher </a:t>
                </a:r>
                <a:r>
                  <a:rPr lang="en-US" altLang="zh-CN" sz="2400" b="1" dirty="0">
                    <a:solidFill>
                      <a:schemeClr val="accent1"/>
                    </a:solidFill>
                  </a:rPr>
                  <a:t>R-square </a:t>
                </a:r>
                <a:r>
                  <a:rPr lang="en-US" altLang="zh-CN" sz="2400" dirty="0">
                    <a:latin typeface="Arial" panose="020B0604020202090204" pitchFamily="34" charset="0"/>
                    <a:ea typeface="微软雅黑" charset="-122"/>
                    <a:sym typeface="+mn-ea"/>
                  </a:rPr>
                  <a:t>0.5485</a:t>
                </a:r>
                <a:r>
                  <a:rPr lang="en-US" altLang="zh-CN" sz="24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altLang="en-US" sz="2400" b="1" dirty="0">
                    <a:solidFill>
                      <a:schemeClr val="accent1"/>
                    </a:solidFill>
                  </a:rPr>
                  <a:t>→</a:t>
                </a:r>
                <a:r>
                  <a:rPr lang="en-US" altLang="zh-CN" sz="2400" b="1" dirty="0">
                    <a:solidFill>
                      <a:schemeClr val="accent1"/>
                    </a:solidFill>
                  </a:rPr>
                  <a:t> stronger explanatory power</a:t>
                </a:r>
              </a:p>
              <a:p>
                <a:pPr marL="0" indent="0">
                  <a:buNone/>
                </a:pPr>
                <a:r>
                  <a:rPr lang="en-US" altLang="zh-CN" sz="2400" b="1" dirty="0">
                    <a:solidFill>
                      <a:schemeClr val="accent1"/>
                    </a:solidFill>
                  </a:rPr>
                  <a:t>Thus, we use Model 1 to calculate the 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Mean CI [1.0918, 2.7375] and  Individual PI [-10.8225, 14.6518]</a:t>
                </a:r>
              </a:p>
              <a:p>
                <a:pPr marL="0" indent="0">
                  <a:buNone/>
                </a:pPr>
                <a:endParaRPr lang="en-US" altLang="zh-CN" sz="24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altLang="zh-CN" sz="24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altLang="zh-CN" sz="17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altLang="zh-CN" sz="17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altLang="zh-CN" sz="17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1700" b="1" dirty="0">
                    <a:solidFill>
                      <a:schemeClr val="accent1"/>
                    </a:solidFill>
                  </a:rPr>
                  <a:t>              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87195" y="927100"/>
                <a:ext cx="7892415" cy="5003800"/>
              </a:xfrm>
              <a:blipFill rotWithShape="1">
                <a:blip r:embed="rId2"/>
                <a:stretch>
                  <a:fillRect b="-26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1806010" y="4386582"/>
            <a:ext cx="746325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Market.x1 provides the strongest and most reliable explanation for the return of Portfolio F. From a business perspective, overall market return is useful for forecasting returns and supporting investment decisions.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90204"/>
              <a:ea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52503" y="399807"/>
            <a:ext cx="3059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model1!!!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82812F-E731-A756-62DC-29A9192A7E85}"/>
              </a:ext>
            </a:extLst>
          </p:cNvPr>
          <p:cNvSpPr txBox="1"/>
          <p:nvPr/>
        </p:nvSpPr>
        <p:spPr>
          <a:xfrm>
            <a:off x="10608213" y="6113719"/>
            <a:ext cx="158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WU Chunyu 2430026217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92*194"/>
  <p:tag name="TABLE_ENDDRAG_RECT" val="142*280*792*19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92*194"/>
  <p:tag name="TABLE_ENDDRAG_RECT" val="142*280*792*19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6*278"/>
  <p:tag name="TABLE_ENDDRAG_RECT" val="11*146*456*27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6*278"/>
  <p:tag name="TABLE_ENDDRAG_RECT" val="11*146*456*278"/>
</p:tagLst>
</file>

<file path=ppt/tags/tag6.xml><?xml version="1.0" encoding="utf-8"?>
<p:tagLst xmlns:p="http://schemas.openxmlformats.org/presentationml/2006/main">
  <p:tag name="TABLE_ENDDRAG_ORIGIN_RECT" val="456*278"/>
  <p:tag name="TABLE_ENDDRAG_RECT" val="11*146*456*278"/>
</p:tagLst>
</file>

<file path=ppt/tags/tag40.xml><?xml version="1.0" encoding="utf-8"?>
<p:tagLst xmlns:p="http://schemas.openxmlformats.org/presentationml/2006/main">
  <p:tag name="TABLE_ENDDRAG_ORIGIN_RECT" val="456*278"/>
  <p:tag name="TABLE_ENDDRAG_RECT" val="11*146*456*278"/>
</p:tagLst>
</file>

<file path=ppt/theme/theme1.xml><?xml version="1.0" encoding="utf-8"?>
<a:theme xmlns:a="http://schemas.openxmlformats.org/drawingml/2006/main" name="Designed by OfficePLUS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174FB"/>
      </a:accent1>
      <a:accent2>
        <a:srgbClr val="01BFFB"/>
      </a:accent2>
      <a:accent3>
        <a:srgbClr val="5BD69A"/>
      </a:accent3>
      <a:accent4>
        <a:srgbClr val="EEA956"/>
      </a:accent4>
      <a:accent5>
        <a:srgbClr val="DC6683"/>
      </a:accent5>
      <a:accent6>
        <a:srgbClr val="A059D0"/>
      </a:accent6>
      <a:hlink>
        <a:srgbClr val="778495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signed by OfficePLUS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174FB"/>
      </a:accent1>
      <a:accent2>
        <a:srgbClr val="01BFFB"/>
      </a:accent2>
      <a:accent3>
        <a:srgbClr val="5BD69A"/>
      </a:accent3>
      <a:accent4>
        <a:srgbClr val="EEA956"/>
      </a:accent4>
      <a:accent5>
        <a:srgbClr val="DC6683"/>
      </a:accent5>
      <a:accent6>
        <a:srgbClr val="A059D0"/>
      </a:accent6>
      <a:hlink>
        <a:srgbClr val="778495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4482</Words>
  <Application>Microsoft Office PowerPoint</Application>
  <PresentationFormat>宽屏</PresentationFormat>
  <Paragraphs>674</Paragraphs>
  <Slides>44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53" baseType="lpstr">
      <vt:lpstr>DejaVu Math TeX Gyre</vt:lpstr>
      <vt:lpstr>等线</vt:lpstr>
      <vt:lpstr>华文中宋</vt:lpstr>
      <vt:lpstr>Arial</vt:lpstr>
      <vt:lpstr>Arial Bold</vt:lpstr>
      <vt:lpstr>Cambria Math</vt:lpstr>
      <vt:lpstr>Times New Roman</vt:lpstr>
      <vt:lpstr>Designed by OfficePLUS</vt:lpstr>
      <vt:lpstr>1_Designed by OfficePLUS</vt:lpstr>
      <vt:lpstr>Minicase 13</vt:lpstr>
      <vt:lpstr>Data Overview  </vt:lpstr>
      <vt:lpstr>Analysis Method</vt:lpstr>
      <vt:lpstr>Problem 1</vt:lpstr>
      <vt:lpstr>PowerPoint 演示文稿</vt:lpstr>
      <vt:lpstr>Problem1(a)-Fitted Regression Models</vt:lpstr>
      <vt:lpstr>Problem1(b) - Slope Significance Test</vt:lpstr>
      <vt:lpstr>Problem1(b) - Slope Significance Test</vt:lpstr>
      <vt:lpstr>Problem1(c)-Model Comparison &amp; 95% Prediction</vt:lpstr>
      <vt:lpstr>Problem1(c)-Model Comparison &amp; 95% Prediction</vt:lpstr>
      <vt:lpstr>Problem2</vt:lpstr>
      <vt:lpstr>PowerPoint 演示文稿</vt:lpstr>
      <vt:lpstr>Problem2(a)-Fitted Regression Models</vt:lpstr>
      <vt:lpstr>Problem2(b) - Slope Significance Test</vt:lpstr>
      <vt:lpstr>Problem2(c)-Model Comparison &amp; 95% Prediction</vt:lpstr>
      <vt:lpstr>Problem2(c)-Model Comparison &amp; 95% Prediction</vt:lpstr>
      <vt:lpstr>Problem 3</vt:lpstr>
      <vt:lpstr>PowerPoint 演示文稿</vt:lpstr>
      <vt:lpstr>Problem3(a)- Fitted Regression Models</vt:lpstr>
      <vt:lpstr>Problem 3(b) - Slope Significance Test</vt:lpstr>
      <vt:lpstr>Problem 3(b) - Slope Significance Test</vt:lpstr>
      <vt:lpstr>Problem 3(c)-Model Comparison &amp; 95% Prediction</vt:lpstr>
      <vt:lpstr>Problem 3(c)-Model Comparison &amp; 95% Prediction</vt:lpstr>
      <vt:lpstr>Problem 4</vt:lpstr>
      <vt:lpstr>PowerPoint 演示文稿</vt:lpstr>
      <vt:lpstr>Problem 4 Regression Equation Estimates (a)</vt:lpstr>
      <vt:lpstr>Problem 4(a) R Output</vt:lpstr>
      <vt:lpstr>Problem 4 (a) Regression Plot</vt:lpstr>
      <vt:lpstr>Problem Hypothesis Testing(b)</vt:lpstr>
      <vt:lpstr>Problem Confidence and Prediction Intervals (c)</vt:lpstr>
      <vt:lpstr>Problem 5</vt:lpstr>
      <vt:lpstr>PowerPoint 演示文稿</vt:lpstr>
      <vt:lpstr>Problem 5 (a)</vt:lpstr>
      <vt:lpstr>Problem 5 (b)</vt:lpstr>
      <vt:lpstr>Problem 5 (c)</vt:lpstr>
      <vt:lpstr>Problem 5 (c)</vt:lpstr>
      <vt:lpstr>Group Combined Effort </vt:lpstr>
      <vt:lpstr>Objectives of Group Combined Effort </vt:lpstr>
      <vt:lpstr>Model Evaluation Criteria</vt:lpstr>
      <vt:lpstr>PowerPoint 演示文稿</vt:lpstr>
      <vt:lpstr>Key Findings from Model Comparison</vt:lpstr>
      <vt:lpstr>Key Findings from Model Comparison</vt:lpstr>
      <vt:lpstr>final recommendation   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chen ye</cp:lastModifiedBy>
  <cp:revision>16</cp:revision>
  <cp:lastPrinted>2025-12-14T12:45:21Z</cp:lastPrinted>
  <dcterms:created xsi:type="dcterms:W3CDTF">2025-12-14T12:45:21Z</dcterms:created>
  <dcterms:modified xsi:type="dcterms:W3CDTF">2025-12-14T14:24:31Z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7d4fa625-b405-4c44-a39e-b1f1c66cce1c</vt:lpwstr>
  </property>
  <property fmtid="{D5CDD505-2E9C-101B-9397-08002B2CF9AE}" pid="3" name="KSOProductBuildVer">
    <vt:lpwstr>2052-12.1.24031.24031</vt:lpwstr>
  </property>
  <property fmtid="{D5CDD505-2E9C-101B-9397-08002B2CF9AE}" pid="4" name="ICV">
    <vt:lpwstr>33E9EFA9C62417AD60B13E69D02876FF_43</vt:lpwstr>
  </property>
</Properties>
</file>